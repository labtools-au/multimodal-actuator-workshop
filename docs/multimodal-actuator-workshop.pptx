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 — Start here. Don't read the slide.</a:t>
            </a:r>
          </a:p>
          <a:p/>
          <a:p>
            <a:r>
              <a:t>Open with the failing demo, not with talking. Have the coin motor and the</a:t>
            </a:r>
          </a:p>
          <a:p>
            <a:r>
              <a:t>solenoid both wired and ready before anyone sits down.</a:t>
            </a:r>
          </a:p>
          <a:p/>
          <a:p>
            <a:r>
              <a:t>Buzz a phone-style notification on the ERM. Then send the same message on the</a:t>
            </a:r>
          </a:p>
          <a:p>
            <a:r>
              <a:t>solenoid. Ask: which felt more urgent? Let them answer. Nobody needs theory</a:t>
            </a:r>
          </a:p>
          <a:p>
            <a:r>
              <a:t>for that, and that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version: every year projects end up on the screen and the</a:t>
            </a:r>
          </a:p>
          <a:p>
            <a:r>
              <a:t>speaker, and haptics gets designed on paper then dropped.</a:t>
            </a:r>
          </a:p>
          <a:p/>
          <a:p>
            <a:r>
              <a:t>Not because it was wrong. Because nobody had touched the parts.</a:t>
            </a:r>
          </a:p>
          <a:p/>
          <a:p>
            <a:r>
              <a:t>Keep this short — 2 minutes. They came to do things, not hear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rules firmly, because the rotation collapses if you don't.</a:t>
            </a:r>
          </a:p>
          <a:p/>
          <a:p>
            <a:r>
              <a:t>Nobody wires anything today. Everything is pre-wired and running. They turn</a:t>
            </a:r>
          </a:p>
          <a:p>
            <a:r>
              <a:t>one knob and answer one question.</a:t>
            </a:r>
          </a:p>
          <a:p/>
          <a:p>
            <a:r>
              <a:t>Say out loud: the timer is hard. Ten minutes means ten minutes. Bench 3 (the</a:t>
            </a:r>
          </a:p>
          <a:p>
            <a:r>
              <a:t>solenoid) is the one people won't want to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don't narrate it. Fifteen seconds.</a:t>
            </a:r>
          </a:p>
          <a:p/>
          <a:p>
            <a:r>
              <a:t>Practical: assign each group a DIFFERENT starting bench so they rotate cleanly.</a:t>
            </a:r>
          </a:p>
          <a:p>
            <a:r>
              <a:t>Six groups, six benches. Write starting numbers on the whiteboard.</a:t>
            </a:r>
          </a:p>
          <a:p/>
          <a:p>
            <a:r>
              <a:t>If a bench breaks mid-session, pull it and go to five. Five working benches</a:t>
            </a:r>
          </a:p>
          <a:p>
            <a:r>
              <a:t>beat six with a mystery.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 — Rotation starts. Set a visible timer.</a:t>
            </a:r>
          </a:p>
          <a:p/>
          <a:p>
            <a:r>
              <a:t>You are now a timekeeper, not a lecturer. Call the rotation loudly every ten</a:t>
            </a:r>
          </a:p>
          <a:p>
            <a:r>
              <a:t>minutes. Circulate, but don't rescue — let them poke at things.</a:t>
            </a:r>
          </a:p>
          <a:p/>
          <a:p>
            <a:r>
              <a:t>The bench slides that follow are reference for YOU and for anyone who wants to</a:t>
            </a:r>
          </a:p>
          <a:p>
            <a:r>
              <a:t>look back. Do not present them one by one before the rotation. That would eat</a:t>
            </a:r>
          </a:p>
          <a:p>
            <a:r>
              <a:t>the hour.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ERM. The lecture point made physical: frequency and amplitude are</a:t>
            </a:r>
          </a:p>
          <a:p>
            <a:r>
              <a:t>mechanically linked. You cannot get gentle-but-fast.</a:t>
            </a:r>
          </a:p>
          <a:p/>
          <a:p>
            <a:r>
              <a:t>Common question: "why does it feel weak at low PWM?" Below about 90 the motor</a:t>
            </a:r>
          </a:p>
          <a:p>
            <a:r>
              <a:t>can't overcome its own friction. That floor is real and worth naming.</a:t>
            </a:r>
          </a:p>
          <a:p/>
          <a:p>
            <a:r>
              <a:t>Never let anyone rewire this to a bare pin — 40 mA limit, motor pulls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bench 1's compromise. LRA is the phone-keyboard feel:</a:t>
            </a:r>
          </a:p>
          <a:p>
            <a:r>
              <a:t>5 ms on, 5 ms off. Piezo is sharp but shallow.</a:t>
            </a:r>
          </a:p>
          <a:p/>
          <a:p>
            <a:r>
              <a:t>If the LRA sounds wrong, the DRV2605L is in ERM mode — it must be told which</a:t>
            </a:r>
          </a:p>
          <a:p>
            <a:r>
              <a:t>type it's driving. That's the failure to expect here.</a:t>
            </a:r>
          </a:p>
          <a:p/>
          <a:p>
            <a:r>
              <a:t>Good moment to point out: 123 built-in waveforms means they don't have to</a:t>
            </a:r>
          </a:p>
          <a:p>
            <a:r>
              <a:t>design vibration from scratch in their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memorable one. A knock reads as a person tapping you — indexical,</a:t>
            </a:r>
          </a:p>
          <a:p>
            <a:r>
              <a:t>not symbolic, straight from Lecture 7's semiotics.</a:t>
            </a:r>
          </a:p>
          <a:p/>
          <a:p>
            <a:r>
              <a:t>Watch the duty cycle. Solenoids get hot fast; if it's been hammering for ten</a:t>
            </a:r>
          </a:p>
          <a:p>
            <a:r>
              <a:t>minutes, let it rest.</a:t>
            </a:r>
          </a:p>
          <a:p/>
          <a:p>
            <a:r>
              <a:t>Separate supply, common ground. On USB alone the board browns out and resets,</a:t>
            </a:r>
          </a:p>
          <a:p>
            <a:r>
              <a:t>which looks like a code bug and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surprise bench. No breakout board — the input is a wire.</a:t>
            </a:r>
          </a:p>
          <a:p/>
          <a:p>
            <a:r>
              <a:t>Have the Serial Plotter on a screen here. Watching the baseline wander while</a:t>
            </a:r>
          </a:p>
          <a:p>
            <a:r>
              <a:t>the trigger line tracks it teaches the whole idea in ten seconds.</a:t>
            </a:r>
          </a:p>
          <a:p/>
          <a:p>
            <a:r>
              <a:t>Let someone hold their hand NEAR without touching. The gradual approach is</a:t>
            </a:r>
          </a:p>
          <a:p>
            <a:r>
              <a:t>what makes the threshold question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one idea most worth stealing from today.</a:t>
            </a:r>
          </a:p>
          <a:p/>
          <a:p>
            <a:r>
              <a:t>Two things students get wrong:</a:t>
            </a:r>
          </a:p>
          <a:p/>
          <a:p>
            <a:r>
              <a:t>1. They use a fixed threshold. Works in the morning, fails after lunch,</a:t>
            </a:r>
          </a:p>
          <a:p>
            <a:r>
              <a:t>   because the reading drifts with humidity and mains hum.</a:t>
            </a:r>
          </a:p>
          <a:p/>
          <a:p>
            <a:r>
              <a:t>2. They feed the baseline buffer always. Then a long press teaches the</a:t>
            </a:r>
          </a:p>
          <a:p>
            <a:r>
              <a:t>   baseline that a finger is normal, and the touch silently stops working.</a:t>
            </a:r>
          </a:p>
          <a:p>
            <a:r>
              <a:t>   The buffer must ONLY learn while untouched.</a:t>
            </a:r>
          </a:p>
          <a:p/>
          <a:p>
            <a:r>
              <a:t>Code is in the repo, bench 04, commented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Thermal. The lecture said people are bad at thermal patterns — this is</a:t>
            </a:r>
          </a:p>
          <a:p>
            <a:r>
              <a:t>where they feel why.</a:t>
            </a:r>
          </a:p>
          <a:p/>
          <a:p>
            <a:r>
              <a:t>Make them time themselves. The 3-8 second onset kills a lot of bad project</a:t>
            </a:r>
          </a:p>
          <a:p>
            <a:r>
              <a:t>ideas before they get proposed, which is exactly what you want happening now</a:t>
            </a:r>
          </a:p>
          <a:p>
            <a:r>
              <a:t>rather than in week 47.</a:t>
            </a:r>
          </a:p>
          <a:p/>
          <a:p>
            <a:r>
              <a:t>Safety: heatsink on the hot side, capped at 45 C. Skin burns above 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Redundancy, made physical. Same driver, two frequencies — one you feel,</a:t>
            </a:r>
          </a:p>
          <a:p>
            <a:r>
              <a:t>one you hear.</a:t>
            </a:r>
          </a:p>
          <a:p/>
          <a:p>
            <a:r>
              <a:t>The point isn't that together is louder. It's that together is more CERTAIN.</a:t>
            </a:r>
          </a:p>
          <a:p>
            <a:r>
              <a:t>That's crossmodal redundancy from Lecture 7 and it's the cheapest reliability</a:t>
            </a:r>
          </a:p>
          <a:p>
            <a:r>
              <a:t>win available to their projects.</a:t>
            </a:r>
          </a:p>
          <a:p/>
          <a:p>
            <a:r>
              <a:t>Ear defenders must actually be used or the comparison is dishonest.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 — Rotation over. Round-the-room now.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the thermal group to report the delay. Let that land — it's more</a:t>
            </a:r>
          </a:p>
          <a:p>
            <a:r>
              <a:t>persuasive coming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don't teach. These sit on one table with a sign.</a:t>
            </a:r>
          </a:p>
          <a:p/>
          <a:p>
            <a:r>
              <a:t>The honest warnings matter more than the specs: PPG is garbage once the hand</a:t>
            </a:r>
          </a:p>
          <a:p>
            <a:r>
              <a:t>moves, GSR drifts so only relative change is usable, FSRs need per-pad</a:t>
            </a:r>
          </a:p>
          <a:p>
            <a:r>
              <a:t>calibration.</a:t>
            </a:r>
          </a:p>
          <a:p/>
          <a:p>
            <a:r>
              <a:t>Push the phone option hard. For a lot of projects it genuinely beats</a:t>
            </a:r>
          </a:p>
          <a:p>
            <a:r>
              <a:t>everything else on the table and needs no soldering.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show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haptics" and "it moves when you touch</a:t>
            </a:r>
          </a:p>
          <a:p>
            <a:r>
              <a:t>it" is smaller than it looks.</a:t>
            </a:r>
          </a:p>
          <a:p/>
          <a:p>
            <a:r>
              <a:t>Note for you: the sock repo has a hardcoded Wi-Fi password and live patient</a:t>
            </a:r>
          </a:p>
          <a:p>
            <a:r>
              <a:t>IDs 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 — Build starts. Thirty minutes.</a:t>
            </a:r>
          </a:p>
          <a:p/>
          <a:p>
            <a:r>
              <a:t>Groups pick any actuator from the rotation. Most will pick bench 1 or 3</a:t>
            </a:r>
          </a:p>
          <a:p>
            <a:r>
              <a:t>because they're simplest — that's fine, the constraint does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</a:t>
            </a:r>
          </a:p>
          <a:p/>
          <a:p>
            <a:r>
              <a:t>Rhythm and roughness only. If someone asks to add a second actuator, say no —</a:t>
            </a:r>
          </a:p>
          <a:p>
            <a:r>
              <a:t>the constraint IS the exercise. Encoding within one channel is the skill.</a:t>
            </a:r>
          </a:p>
          <a:p/>
          <a:p>
            <a:r>
              <a:t>Suggested set is on the slide, but let them choose their own three messages if</a:t>
            </a:r>
          </a:p>
          <a:p>
            <a:r>
              <a:t>they have a better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line worth repeating twice.</a:t>
            </a:r>
          </a:p>
          <a:p/>
          <a:p>
            <a:r>
              <a:t>1:50 — Blind test.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  <a:p/>
          <a:p>
            <a:r>
              <a:t>Pack down: everything back in the box, including the resistors. It will not</a:t>
            </a:r>
          </a:p>
          <a:p>
            <a:r>
              <a:t>all come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Bench 01 and 04 sketches are commented for them.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40000"/>
            <a:ext cx="10414000" cy="17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THE ACTUATOR PETTING ZOO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91000"/>
            <a:ext cx="9652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Hands-on multimodal prototyping  ·  Week 39 lab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WEEK 39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889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You have had the actuator lecture. You know what an ERM is on a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3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Today you put one against your own wrist, decide it feels cheap, and pick something else — before you commit a project to it.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Every year projects arrive at the mid-way pitch built entirely on the screen and the speaker.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Not because haptics was the wrong choice — because nobody knew a coin motor costs 12 kr and takes two wires.</a:t>
            </a:r>
          </a:p>
        </p:txBody>
      </p:sp>
      <p:pic>
        <p:nvPicPr>
          <p:cNvPr id="6" name="Picture 5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7" name="Picture 6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Six benches. Already wired. Already running.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Ten minutes each, on a hard timer.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You change one parameter and answer one question.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— that is what the project weeks are for.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Then you build one tacton and someone else tries to read it.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889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rotation is the spine — keep it moving.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89200"/>
            <a:ext cx="114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02546"/>
                </a:solidFill>
                <a:latin typeface="Consolas"/>
              </a:rPr>
              <a:t>0:00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5000" y="2514600"/>
            <a:ext cx="88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10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4500" y="2489200"/>
            <a:ext cx="7874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Framing, and a demo that fails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73400"/>
            <a:ext cx="114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02546"/>
                </a:solidFill>
                <a:latin typeface="Consolas"/>
              </a:rPr>
              <a:t>0:10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3098800"/>
            <a:ext cx="88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60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84500" y="3073400"/>
            <a:ext cx="7874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Bench rotation — 10 minutes 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114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02546"/>
                </a:solidFill>
                <a:latin typeface="Consolas"/>
              </a:rPr>
              <a:t>1:10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5000" y="3683000"/>
            <a:ext cx="88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10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4500" y="3657600"/>
            <a:ext cx="7874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Round-the-room: what surprised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41800"/>
            <a:ext cx="114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02546"/>
                </a:solidFill>
                <a:latin typeface="Consolas"/>
              </a:rPr>
              <a:t>1:20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4267200"/>
            <a:ext cx="88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30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4500" y="4241800"/>
            <a:ext cx="7874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Build one tacton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26000"/>
            <a:ext cx="114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02546"/>
                </a:solidFill>
                <a:latin typeface="Consolas"/>
              </a:rPr>
              <a:t>1:50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4851400"/>
            <a:ext cx="889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10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4500" y="4826000"/>
            <a:ext cx="7874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Blind test and pack down</a:t>
            </a:r>
          </a:p>
        </p:txBody>
      </p:sp>
      <p:pic>
        <p:nvPicPr>
          <p:cNvPr id="20" name="Picture 19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21" name="Picture 20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21000"/>
            <a:ext cx="10414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4400" b="1">
                <a:solidFill>
                  <a:srgbClr val="000000"/>
                </a:solidFill>
                <a:latin typeface="Arial"/>
              </a:rPr>
              <a:t>THE SIX BENCHES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7620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01 — ERM COIN MOTOR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01800"/>
            <a:ext cx="660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CUTANEOUS · VIBRATION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33600"/>
            <a:ext cx="6604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The eccentric rotating mass from Lecture 6. The same part that is in your phone and every game controller.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Turn the pot and notice what you cannot do: frequency and amplitude are mechanically welded together. "Gentle but fast" is not available to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6604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002546"/>
                </a:solidFill>
                <a:latin typeface="Arial"/>
              </a:rPr>
              <a:t>At what point does it stop feeling like information and start feeling like a malfunction?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2133600"/>
            <a:ext cx="3175000" cy="30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10mm 3V coin ERM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2N2222 + 1N4148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D9 (PWM)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draw   ~75 mA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spin-up   20–40 ms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~12 kr</a:t>
            </a:r>
          </a:p>
        </p:txBody>
      </p:sp>
      <p:pic>
        <p:nvPicPr>
          <p:cNvPr id="8" name="Picture 7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9" name="Picture 8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7620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02 — LRA + PIEZO DISC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01800"/>
            <a:ext cx="660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CUTANEOUS · VIBRATION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33600"/>
            <a:ext cx="6604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Two ways out of the ERM's compromise.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The LRA hits resonance in ~5 ms and stops just as fast — which is why phone keyboards use it.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The piezo is the crystal from the lecture: near-instant, almost no power, but shallow. A tick, not a thump.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6604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002546"/>
                </a:solidFill>
                <a:latin typeface="Arial"/>
              </a:rPr>
              <a:t>Which of the three vibrators would you actually put on a wrist, and why not the others?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2133600"/>
            <a:ext cx="3175000" cy="30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parts   LRA 10mm + piezo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driver   DRV2605L (I2C)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pin   A4 SDA / A5 SCL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effects   123 waveforms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~90 kr</a:t>
            </a:r>
          </a:p>
        </p:txBody>
      </p:sp>
      <p:pic>
        <p:nvPicPr>
          <p:cNvPr id="8" name="Picture 7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9" name="Picture 8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7620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03 — SOLENOID TAP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01800"/>
            <a:ext cx="660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CUTANEOUS ·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33600"/>
            <a:ext cx="6604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A push-pull solenoid firing a single 15 ms pulse against a fingertip.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This is the bench everyone remembers. A discrete knock carries urgency no amount of buzzing does — it reads as somebody tapping you.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Indexical, not symbolic.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6604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002546"/>
                </a:solidFill>
                <a:latin typeface="Arial"/>
              </a:rPr>
              <a:t>How many taps before it goes from alert to nagging?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2133600"/>
            <a:ext cx="3175000" cy="30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5V push-pull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MOSFET + flyback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D6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peak   ~1.1 A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duty   &lt;= 25%, gets hot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~45 kr</a:t>
            </a:r>
          </a:p>
        </p:txBody>
      </p:sp>
      <p:pic>
        <p:nvPicPr>
          <p:cNvPr id="8" name="Picture 7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9" name="Picture 8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7620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04 — CAPACITIVE TOUCH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01800"/>
            <a:ext cx="660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KINESTHETIC · TOUCH-TO-ACTUATE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33600"/>
            <a:ext cx="6604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Touch a surface with a bare finger and the servos react.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There is no button and no sensor you can point at. The input IS a wire taped to a plate, read on an analogue pin.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This is the SOS 2025 rig running its real sketch.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6604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002546"/>
                </a:solidFill>
                <a:latin typeface="Arial"/>
              </a:rPr>
              <a:t>Put your hand near the plate without touching. When exactly did it decide that was a touch?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2133600"/>
            <a:ext cx="3175000" cy="30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sense   ADCTouch on A0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baseline   25-sample roll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trigger   1.01x average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debounce   100 ms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servos   D4 + D13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~0 kr — a wire</a:t>
            </a:r>
          </a:p>
        </p:txBody>
      </p:sp>
      <p:pic>
        <p:nvPicPr>
          <p:cNvPr id="8" name="Picture 7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9" name="Picture 8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BENCH 04 — THE WHOLE TRICK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889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Capacitive sensing costs a wire. What it does not cost you is thinking.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3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The threshold is RELATIVE, never absolute.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humidity, mains hum, how you are sitting. A fixed threshold works in the morning and fails after lunch.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The baseline only learns while untouched.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Otherwise a long press slowly teaches it that a finger is normal, and the touch silently stops registering.</a:t>
            </a:r>
          </a:p>
        </p:txBody>
      </p:sp>
      <p:pic>
        <p:nvPicPr>
          <p:cNvPr id="6" name="Picture 5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7" name="Picture 6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7620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05 — PELTIER WARM / COOL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01800"/>
            <a:ext cx="660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CUTANEOUS · THERMAL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33600"/>
            <a:ext cx="6604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A thermoelectric tile: heats one side, cools the other, reverses when you flip the current.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Sit with it. It takes several seconds before you are sure which way it went.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The lecture's warning holds up in person — alternating hot and cold just reads as lukewarm.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6604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002546"/>
                </a:solidFill>
                <a:latin typeface="Arial"/>
              </a:rPr>
              <a:t>Time yourself. How long until you would bet money on warmer vs cooler?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2133600"/>
            <a:ext cx="3175000" cy="30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TEC1-12706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L298N H-bridge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D3 PWM / D4-5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draw   2–4 A, bench PSU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onset   3–8 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cap   45 C in software</a:t>
            </a:r>
          </a:p>
        </p:txBody>
      </p:sp>
      <p:pic>
        <p:nvPicPr>
          <p:cNvPr id="8" name="Picture 7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9" name="Picture 8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7620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06 — THE SAME SIGNAL, TWICE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01800"/>
            <a:ext cx="660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INTRAMODAL · AUDIO + HAPTIC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33600"/>
            <a:ext cx="6604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One transducer on a plate, playing 40 Hz you feel and 400 Hz you hear — from the same driver.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Toggle between them alone and together.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Together is not louder. It is more CERTAIN. That is redundancy from Lecture 7, and the cheapest reliability win your project can 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6604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002546"/>
                </a:solidFill>
                <a:latin typeface="Arial"/>
              </a:rPr>
              <a:t>With ear defenders on, does the tacton still work?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2133600"/>
            <a:ext cx="3175000" cy="30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bone-conduction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amp   PAM8403 class-D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D11 (tone)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felt   ~40 Hz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heard   ~400 Hz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~110 kr</a:t>
            </a:r>
          </a:p>
        </p:txBody>
      </p:sp>
      <p:pic>
        <p:nvPicPr>
          <p:cNvPr id="8" name="Picture 7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9" name="Picture 8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21000"/>
            <a:ext cx="10414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889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One table, not a rotation. Wander over during the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3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 — a wire on an analogue pin. See bench 04.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Heart rate (PPG) — steady at rest, garbage the moment the hand moves.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GSR — arousal, but it drifts. Relative change only, never absolute.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Flex sensor — the cheap route to a data glove.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Pressure (FSR) — how hard, not just whether. Calibrate per pad.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 — accelerometer, gyro, mic, camera, vibration. No soldering at all.</a:t>
            </a:r>
          </a:p>
        </p:txBody>
      </p:sp>
      <p:pic>
        <p:nvPicPr>
          <p:cNvPr id="6" name="Picture 5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7" name="Picture 6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889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3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Capacitive sensing + servos + actuators — SOS 2025, Arduino Uno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A moving screen that breathes when idle and retreats when touched. 922 lines, plus a browser control panel over serial.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Take away: easing and idle motion are what separate "a servo moved" from "it reacted to me". Both are a dozen lines.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 — bachelor project, ESP32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to a server over Wi-Fi, each with its own calibration constants.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Take away: calibrate per sensor, and batch your writes.</a:t>
            </a:r>
          </a:p>
        </p:txBody>
      </p:sp>
      <p:pic>
        <p:nvPicPr>
          <p:cNvPr id="6" name="Picture 5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7" name="Picture 6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21000"/>
            <a:ext cx="10414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TACTON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889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Deliberately not long enough to be precious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3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Pick one actuator from the rotation.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Encode three messages: arrived / something wrong / finished.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Vary RHYTHM and ROUGHNESS only — the Lecture 7 tacton parameters. No swapping actuators between messages.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Hand it to another group with the display turned away. They name all three.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Write down which two got confused, and what would have separated them.</a:t>
            </a:r>
          </a:p>
        </p:txBody>
      </p:sp>
      <p:pic>
        <p:nvPicPr>
          <p:cNvPr id="6" name="Picture 5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7" name="Picture 6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6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8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99060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700" b="0">
                <a:solidFill>
                  <a:srgbClr val="000000"/>
                </a:solidFill>
                <a:latin typeface="Arial"/>
              </a:rPr>
              <a:t>If your design only works when someone is watching a screen, you built a visual interface with a motor glued to it.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WEEK 39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40000"/>
            <a:ext cx="10414000" cy="17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91000"/>
            <a:ext cx="9652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WEEK 39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