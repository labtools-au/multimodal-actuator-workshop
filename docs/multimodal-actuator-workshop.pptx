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Start here. Don't read the slide.</a:t>
            </a:r>
          </a:p>
          <a:p/>
          <a:p>
            <a:r>
              <a:t>Open with the failing demo, not with talking. Have the coin motor and the</a:t>
            </a:r>
          </a:p>
          <a:p>
            <a:r>
              <a:t>solenoid both wired and ready before anyone sits down.</a:t>
            </a:r>
          </a:p>
          <a:p/>
          <a:p>
            <a:r>
              <a:t>Buzz a phone-style notification on the ERM. Then send the same message on the</a:t>
            </a:r>
          </a:p>
          <a:p>
            <a:r>
              <a:t>solenoid. Ask: which felt more urgent? Let them answer. Nobody needs theory</a:t>
            </a:r>
          </a:p>
          <a:p>
            <a:r>
              <a:t>for that, and that IS the argument for the whole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full version out loud, the slide only carries the skeleton:</a:t>
            </a:r>
          </a:p>
          <a:p/>
          <a:p>
            <a:r>
              <a:t>"You can read a datasheet. You have never held one of these. Today you put a</a:t>
            </a:r>
          </a:p>
          <a:p>
            <a:r>
              <a:t>vibration motor against your own wrist, decide it feels cheap, and pick</a:t>
            </a:r>
          </a:p>
          <a:p>
            <a:r>
              <a:t>something else. Better now than in week 46 with the demo three days out."</a:t>
            </a:r>
          </a:p>
          <a:p/>
          <a:p>
            <a:r>
              <a:t>Every year projects end up on the screen and the speaker, and touch gets</a:t>
            </a:r>
          </a:p>
          <a:p>
            <a:r>
              <a:t>designed on paper then dropped.</a:t>
            </a:r>
          </a:p>
          <a:p/>
          <a:p>
            <a:r>
              <a:t>Not because it was wrong. Because nobody had held the parts.</a:t>
            </a:r>
          </a:p>
          <a:p/>
          <a:p>
            <a:r>
              <a:t>They get the Actuators lecture tomorrow. Today is the hands, not the theory.</a:t>
            </a:r>
          </a:p>
          <a:p/>
          <a:p>
            <a:r>
              <a:t>Keep this short, 2 minutes. They came to do things, not hear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rules firmly, because the rotation collapses if you don't.</a:t>
            </a:r>
          </a:p>
          <a:p/>
          <a:p>
            <a:r>
              <a:t>Nobody wires anything today. Everything is pre-wired and running. They turn</a:t>
            </a:r>
          </a:p>
          <a:p>
            <a:r>
              <a:t>one knob and answer one question.</a:t>
            </a:r>
          </a:p>
          <a:p/>
          <a:p>
            <a:r>
              <a:t>Say out loud: the timer is hard. Ten minutes means ten minutes. Bench 3, the</a:t>
            </a:r>
          </a:p>
          <a:p>
            <a:r>
              <a:t>solenoid, is the one people will not want to leave.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it, don't narrate it. Fifteen seconds.</a:t>
            </a:r>
          </a:p>
          <a:p/>
          <a:p>
            <a:r>
              <a:t>Practical: assign each group a DIFFERENT starting bench so they rotate cleanly.</a:t>
            </a:r>
          </a:p>
          <a:p>
            <a:r>
              <a:t>Six groups, six benches. Write starting numbers on the whiteboard.</a:t>
            </a:r>
          </a:p>
          <a:p/>
          <a:p>
            <a:r>
              <a:t>If a bench breaks mid-session, pull it and go to five. Five working benches</a:t>
            </a:r>
          </a:p>
          <a:p>
            <a:r>
              <a:t>beat six with a mystery.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0:10. Tour starts. Five minutes a bench, not ten. Set a visible timer.</a:t>
            </a:r>
          </a:p>
          <a:p/>
          <a:p>
            <a:r>
              <a:t>You are now a timekeeper, not a lecturer. Call the rotation loudly every ten</a:t>
            </a:r>
          </a:p>
          <a:p>
            <a:r>
              <a:t>minutes. Circulate, but do not rescue. Let them poke at things.</a:t>
            </a:r>
          </a:p>
          <a:p/>
          <a:p>
            <a:r>
              <a:t>The bench slides that follow are reference for YOU and for anyone who wants to</a:t>
            </a:r>
          </a:p>
          <a:p>
            <a:r>
              <a:t>look back. Do not present them one by one before the rotation. That would eat</a:t>
            </a:r>
          </a:p>
          <a:p>
            <a:r>
              <a:t>the hour.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limitation, made physical: speed and strength are mechanically</a:t>
            </a:r>
          </a:p>
          <a:p>
            <a:r>
              <a:t>linked on this motor. You cannot get gentle-but-fast.</a:t>
            </a:r>
          </a:p>
          <a:p/>
          <a:p>
            <a:r>
              <a:t>Common question: "why does it feel weak at low PWM?" Below about 90 the motor</a:t>
            </a:r>
          </a:p>
          <a:p>
            <a:r>
              <a:t>cannot overcome its own friction. That floor is real and worth naming.</a:t>
            </a:r>
          </a:p>
          <a:p/>
          <a:p>
            <a:r>
              <a:t>Never let anyone rewire this to a bare pin. 40 mA limit, motor pulls 75.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escape from bench 1's compromise. LRA is the phone-keyboard feel:</a:t>
            </a:r>
          </a:p>
          <a:p>
            <a:r>
              <a:t>5 ms on, 5 ms off. Piezo is a crystal that flexes when you put current across</a:t>
            </a:r>
          </a:p>
          <a:p>
            <a:r>
              <a:t>it, so it is sharp but shallow.</a:t>
            </a:r>
          </a:p>
          <a:p/>
          <a:p>
            <a:r>
              <a:t>If the LRA sounds wrong, the DRV2605L is in ERM mode. It must be told which</a:t>
            </a:r>
          </a:p>
          <a:p>
            <a:r>
              <a:t>type it's driving. That's the failure to expect here.</a:t>
            </a:r>
          </a:p>
          <a:p/>
          <a:p>
            <a:r>
              <a:t>Good moment to point out: 123 built-in waveforms means they don't have to</a:t>
            </a:r>
          </a:p>
          <a:p>
            <a:r>
              <a:t>design vibration from scratch in their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memorable one. A single knock reads as a person tapping you</a:t>
            </a:r>
          </a:p>
          <a:p>
            <a:r>
              <a:t>rather than a machine signalling. Worth naming out loud, because it is the</a:t>
            </a:r>
          </a:p>
          <a:p>
            <a:r>
              <a:t>whole reason it feels different, and the slide only says the short version.</a:t>
            </a:r>
          </a:p>
          <a:p/>
          <a:p>
            <a:r>
              <a:t>Watch the duty cycle. Solenoids get hot fast, so if it has been hammering for</a:t>
            </a:r>
          </a:p>
          <a:p>
            <a:r>
              <a:t>ten minutes, let it rest.</a:t>
            </a:r>
          </a:p>
          <a:p/>
          <a:p>
            <a:r>
              <a:t>Separate supply, common ground. On USB alone the board browns out and resets,</a:t>
            </a:r>
          </a:p>
          <a:p>
            <a:r>
              <a:t>which looks like a code bug and isn't.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surprise bench. No breakout board. The input is a wire.</a:t>
            </a:r>
          </a:p>
          <a:p/>
          <a:p>
            <a:r>
              <a:t>Have the Serial Plotter on a screen here. Watching the baseline wander while</a:t>
            </a:r>
          </a:p>
          <a:p>
            <a:r>
              <a:t>the trigger line tracks it teaches the whole idea in ten seconds.</a:t>
            </a:r>
          </a:p>
          <a:p/>
          <a:p>
            <a:r>
              <a:t>Let someone hold their hand NEAR without touching. The gradual approach is</a:t>
            </a:r>
          </a:p>
          <a:p>
            <a:r>
              <a:t>what makes the threshold question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This is the one idea most worth stealing from today.</a:t>
            </a:r>
          </a:p>
          <a:p/>
          <a:p>
            <a:r>
              <a:t>Two things students get wrong:</a:t>
            </a:r>
          </a:p>
          <a:p/>
          <a:p>
            <a:r>
              <a:t>1. They use a fixed threshold. Works in the morning, fails after lunch,</a:t>
            </a:r>
          </a:p>
          <a:p>
            <a:r>
              <a:t>   because the reading drifts with humidity and mains hum.</a:t>
            </a:r>
          </a:p>
          <a:p/>
          <a:p>
            <a:r>
              <a:t>2. They feed the baseline buffer always. Then a long press teaches the</a:t>
            </a:r>
          </a:p>
          <a:p>
            <a:r>
              <a:t>   baseline that a finger is normal, and the touch silently stops working.</a:t>
            </a:r>
          </a:p>
          <a:p>
            <a:r>
              <a:t>   The buffer must ONLY learn while untouched.</a:t>
            </a:r>
          </a:p>
          <a:p/>
          <a:p>
            <a:r>
              <a:t>Code is in the repo, bench 04, commented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Thermal. People are bad at reading thermal patterns, and this is</a:t>
            </a:r>
          </a:p>
          <a:p>
            <a:r>
              <a:t>where they find that out for themselves.</a:t>
            </a:r>
          </a:p>
          <a:p/>
          <a:p>
            <a:r>
              <a:t>Make them time themselves. The 3 to 8 second onset kills a lot of bad project</a:t>
            </a:r>
          </a:p>
          <a:p>
            <a:r>
              <a:t>ideas before they get proposed, which is exactly what you want happening now</a:t>
            </a:r>
          </a:p>
          <a:p>
            <a:r>
              <a:t>rather than in week 46.</a:t>
            </a:r>
          </a:p>
          <a:p/>
          <a:p>
            <a:r>
              <a:t>Safety: heatsink on the hot side, capped at 45 C. Skin burns above 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Redundancy, made physical. One transducer on a plate, two frequencies: 40 Hz</a:t>
            </a:r>
          </a:p>
          <a:p>
            <a:r>
              <a:t>you feel, 400 Hz you hear, both from the same driver.</a:t>
            </a:r>
          </a:p>
          <a:p/>
          <a:p>
            <a:r>
              <a:t>The point isn't that together is louder. It's that together is more CERTAIN.</a:t>
            </a:r>
          </a:p>
          <a:p>
            <a:r>
              <a:t>Sending the same thing down two channels is the cheapest reliability their</a:t>
            </a:r>
          </a:p>
          <a:p>
            <a:r>
              <a:t>projects can buy.</a:t>
            </a:r>
          </a:p>
          <a:p/>
          <a:p>
            <a:r>
              <a:t>Ear defenders must actually be used or the comparison is dishonest.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0:50. Tasks start. This is the half of the session they will remember</a:t>
            </a:r>
          </a:p>
          <a:p>
            <a:r>
              <a:t>having done, rather than watched.</a:t>
            </a:r>
          </a:p>
          <a:p/>
          <a:p>
            <a:r>
              <a:t>Hand out boards. One per pair is fine, one each is better. Everything is on</a:t>
            </a:r>
          </a:p>
          <a:p>
            <a:r>
              <a:t>GitHub, and the repo link is on the next-but-one slide.</a:t>
            </a:r>
          </a:p>
          <a:p/>
          <a:p>
            <a:r>
              <a:t>Say clearly: you do NOT have to finish all five. Getting task 1 working and</a:t>
            </a:r>
          </a:p>
          <a:p>
            <a:r>
              <a:t>then properly playing with task 2 beats rushing through all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list in about ninety seconds, no more.</a:t>
            </a:r>
          </a:p>
          <a:p/>
          <a:p>
            <a:r>
              <a:t>The arc matters and is worth naming: 1 to 3 are output, 4 is input, 5 is both</a:t>
            </a:r>
          </a:p>
          <a:p>
            <a:r>
              <a:t>together. By task 5 they have built a complete interaction loop, which is the</a:t>
            </a:r>
          </a:p>
          <a:p>
            <a:r>
              <a:t>shape of most things they will make in the project weeks.</a:t>
            </a:r>
          </a:p>
          <a:p/>
          <a:p>
            <a:r>
              <a:t>Point out that task 5's last experiment IS the closing brief, so the work</a:t>
            </a:r>
          </a:p>
          <a:p>
            <a:r>
              <a:t>carries straight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format is the same every time, so say it once here rather than at</a:t>
            </a:r>
          </a:p>
          <a:p>
            <a:r>
              <a:t>every bench.</a:t>
            </a:r>
          </a:p>
          <a:p/>
          <a:p>
            <a:r>
              <a:t>CHANGE ME at the top: two or three numbers, already set to something that</a:t>
            </a:r>
          </a:p>
          <a:p>
            <a:r>
              <a:t>works. THINGS TO TRY at the bottom: four experiments, easy to hard, and the</a:t>
            </a:r>
          </a:p>
          <a:p>
            <a:r>
              <a:t>last one usually asks them to rewrite a function rather than tweak a value.</a:t>
            </a:r>
          </a:p>
          <a:p/>
          <a:p>
            <a:r>
              <a:t>Common upload problems, in the order they will hit you:</a:t>
            </a:r>
          </a:p>
          <a:p>
            <a:r>
              <a:t>  * wrong board or port under Tools</a:t>
            </a:r>
          </a:p>
          <a:p>
            <a:r>
              <a:t>  * ADCTouch not installed (tasks 4 and 5)</a:t>
            </a:r>
          </a:p>
          <a:p>
            <a:r>
              <a:t>  * solenoid bench: board resets on fire = the bench supply is off</a:t>
            </a:r>
          </a:p>
          <a:p/>
          <a:p>
            <a:r>
              <a:t>Write the repo URL on the whiteboard now. It will be asked for six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0:40. Tour over. Round-the-room now.</a:t>
            </a:r>
          </a:p>
          <a:p/>
          <a:p>
            <a:r>
              <a:t>One sentence per group: what surprised you. No slides, no laptops. Ten minutes.</a:t>
            </a:r>
          </a:p>
          <a:p/>
          <a:p>
            <a:r>
              <a:t>Expect the thermal group to report the delay. Let that land, it is more</a:t>
            </a:r>
          </a:p>
          <a:p>
            <a:r>
              <a:t>persuasive coming from a peer than from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Mention, don't teach. These sit on one table with a sign. The slide is one</a:t>
            </a:r>
          </a:p>
          <a:p>
            <a:r>
              <a:t>line each; the caveats below are what actually saves them time.</a:t>
            </a:r>
          </a:p>
          <a:p/>
          <a:p>
            <a:r>
              <a:t>The honest warnings matter more than the specs: PPG is garbage once the hand</a:t>
            </a:r>
          </a:p>
          <a:p>
            <a:r>
              <a:t>moves, GSR drifts so only relative change is usable, FSRs need per-pad</a:t>
            </a:r>
          </a:p>
          <a:p>
            <a:r>
              <a:t>calibration.</a:t>
            </a:r>
          </a:p>
          <a:p/>
          <a:p>
            <a:r>
              <a:t>Push the phone option hard. For a lot of projects it genuinely beats</a:t>
            </a:r>
          </a:p>
          <a:p>
            <a:r>
              <a:t>everything else on the table and needs no soldering.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minutes, and show the actual repos on screen if you can. The slide names</a:t>
            </a:r>
          </a:p>
          <a:p>
            <a:r>
              <a:t>them; you supply the detail.</a:t>
            </a:r>
          </a:p>
          <a:p/>
          <a:p>
            <a:r>
              <a:t>The moving screen has a browser control panel over the serial port, which is</a:t>
            </a:r>
          </a:p>
          <a:p>
            <a:r>
              <a:t>exactly what you want at the project demonstrations.</a:t>
            </a:r>
          </a:p>
          <a:p/>
          <a:p>
            <a:r>
              <a:t>The argument: this was built by students at your stage, not by a lab with a</a:t>
            </a:r>
          </a:p>
          <a:p>
            <a:r>
              <a:t>budget. The gap between "we should use haptics" and "it moves when you touch</a:t>
            </a:r>
          </a:p>
          <a:p>
            <a:r>
              <a:t>it" is smaller than it looks.</a:t>
            </a:r>
          </a:p>
          <a:p/>
          <a:p>
            <a:r>
              <a:t>Note for you: the sock repo has a hardcoded Wi-Fi password and live patient</a:t>
            </a:r>
          </a:p>
          <a:p>
            <a:r>
              <a:t>IDs in it. Scrub before showing, or show only the calibration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1:40. Blind test. Thirty minutes.</a:t>
            </a:r>
          </a:p>
          <a:p/>
          <a:p>
            <a:r>
              <a:t>Groups pick any actuator from the rotation. Most will pick bench 1 or 3</a:t>
            </a:r>
          </a:p>
          <a:p>
            <a:r>
              <a:t>because they are simplest. That is fine, the constraint does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brief out once, then get out of the way. Full wording, since the</a:t>
            </a:r>
          </a:p>
          <a:p>
            <a:r>
              <a:t>slide is only the bones:</a:t>
            </a:r>
          </a:p>
          <a:p/>
          <a:p>
            <a:r>
              <a:t>"Pick one actuator. Encode three messages: arrived, something wrong, finished.</a:t>
            </a:r>
          </a:p>
          <a:p>
            <a:r>
              <a:t>Vary only the rhythm of the pulses and how strong they are. Then hand it to</a:t>
            </a:r>
          </a:p>
          <a:p>
            <a:r>
              <a:t>another group with the screen turned away and see if they can name all three."</a:t>
            </a:r>
          </a:p>
          <a:p/>
          <a:p>
            <a:r>
              <a:t>Rhythm and strength only. If someone asks to add a second actuator, say no.</a:t>
            </a:r>
          </a:p>
          <a:p>
            <a:r>
              <a:t>The constraint is the exercise. Encoding within one channel is the skill.</a:t>
            </a:r>
          </a:p>
          <a:p/>
          <a:p>
            <a:r>
              <a:t>Suggested set is on the slide, but let them choose their own three messages if</a:t>
            </a:r>
          </a:p>
          <a:p>
            <a:r>
              <a:t>they have a better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line worth repeating twice.</a:t>
            </a:r>
          </a:p>
          <a:p/>
          <a:p>
            <a:r>
              <a:t>Wrap up. Swap groups, receiver looks away, guess all three.</a:t>
            </a:r>
          </a:p>
          <a:p/>
          <a:p>
            <a:r>
              <a:t>Then have each group name which two got confused and what would have separated</a:t>
            </a:r>
          </a:p>
          <a:p>
            <a:r>
              <a:t>them. That confusion is the actual learning, not the successful ones.</a:t>
            </a:r>
          </a:p>
          <a:p/>
          <a:p>
            <a:r>
              <a:t>Pack down: everything back in the box, including the resistors. It will not</a:t>
            </a:r>
          </a:p>
          <a:p>
            <a:r>
              <a:t>all come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them at the repo. Bench 01 and 04 sketches are commented for them.</a:t>
            </a:r>
          </a:p>
          <a:p/>
          <a:p>
            <a:r>
              <a:t>Last thing to say: pick your actuator before you design the interaction, not</a:t>
            </a:r>
          </a:p>
          <a:p>
            <a:r>
              <a:t>after. Today was so they can do that from experience rather than a datasheet.</a:t>
            </a:r>
          </a:p>
          <a:p/>
          <a:p>
            <a:r>
              <a:t>If anyone wants to borrow parts for the project weeks, now is when 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25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ctrTitle" idx="0"/>
          </p:nvPr>
        </p:nvSpPr>
        <p:spPr>
          <a:xfrm>
            <a:off x="914400" y="2540000"/>
            <a:ext cx="10414000" cy="1524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5400" b="1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sp>
        <p:nvSpPr>
          <p:cNvPr id="101" name="Subtitle"/>
          <p:cNvSpPr>
            <a:spLocks noGrp="1"/>
          </p:cNvSpPr>
          <p:nvPr>
            <p:ph type="subTitle" idx="1"/>
          </p:nvPr>
        </p:nvSpPr>
        <p:spPr>
          <a:xfrm>
            <a:off x="914400" y="4191000"/>
            <a:ext cx="9652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2000" b="0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pic>
        <p:nvPicPr>
          <p:cNvPr id="2" name="Picture 1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3" name="Picture 2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PROTOTYPING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10541000" cy="7112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2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ody"/>
          <p:cNvSpPr>
            <a:spLocks noGrp="1"/>
          </p:cNvSpPr>
          <p:nvPr>
            <p:ph type="body" idx="1"/>
          </p:nvPr>
        </p:nvSpPr>
        <p:spPr>
          <a:xfrm>
            <a:off x="914400" y="1905000"/>
            <a:ext cx="10033000" cy="3937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7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 Title"/>
          <p:cNvSpPr>
            <a:spLocks noGrp="1"/>
          </p:cNvSpPr>
          <p:nvPr>
            <p:ph type="title" idx="0"/>
          </p:nvPr>
        </p:nvSpPr>
        <p:spPr>
          <a:xfrm>
            <a:off x="914400" y="2921000"/>
            <a:ext cx="10414000" cy="1651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44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6510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ench 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7620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0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ench Description"/>
          <p:cNvSpPr>
            <a:spLocks noGrp="1"/>
          </p:cNvSpPr>
          <p:nvPr>
            <p:ph type="body" idx="1"/>
          </p:nvPr>
        </p:nvSpPr>
        <p:spPr>
          <a:xfrm>
            <a:off x="914400" y="1701800"/>
            <a:ext cx="6604000" cy="3810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6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2" name="Spec Block"/>
          <p:cNvSpPr>
            <a:spLocks noGrp="1"/>
          </p:cNvSpPr>
          <p:nvPr>
            <p:ph type="body" idx="2"/>
          </p:nvPr>
        </p:nvSpPr>
        <p:spPr>
          <a:xfrm>
            <a:off x="8255000" y="2133600"/>
            <a:ext cx="3175000" cy="3048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2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FEEL BEFORE YOU BUILD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Hands-on prototyping with actuators  ·  2 hours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WHY WE ARE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can read a datasheet. You have never held one of these.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Most projects end up on the screen and the speaker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 because touch was wrong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Because nobody knew a coin motor costs 12 kr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Today: decide it feels cheap, pick something else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Better now than in week 46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TODAY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Six benches, already wired and running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Ten minutes each. Hard timer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Change one parameter, answer one question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wire nothing today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Then build one signal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Someone else has to read it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RUN SHEET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600"/>
              </a:spcAft>
              <a:buNone/>
            </a:pPr>
            <a:r>
              <a:rPr sz="1500" b="0">
                <a:solidFill>
                  <a:srgbClr val="595959"/>
                </a:solidFill>
                <a:latin typeface="Arial"/>
              </a:rPr>
              <a:t>Times are offsets from the start. The rotation is the spine of the session, so keep it moving.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0:00     10 min    Two motors, same message. Which felt urgent?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0:10     30 min    Bench tour: touch all six, five minutes each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0:40     10 min    Round-the-room: what surprised you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0:50     50 min    Tasks. Grab a board, work at your own pace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1:40     15 min    Blind test on task 5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1:55      5 min    Pack down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THE SIX BENCHES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000" b="1">
                <a:solidFill>
                  <a:srgbClr val="000000"/>
                </a:solidFill>
                <a:latin typeface="Arial"/>
              </a:rPr>
              <a:t>01   ERM COIN MOTOR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000" b="1">
                <a:solidFill>
                  <a:srgbClr val="595959"/>
                </a:solidFill>
                <a:latin typeface="Arial"/>
              </a:rPr>
              <a:t>VIBRATION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An off-centre weight on a motor shaft.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The same part as in your phone.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Speed and strength are welded together.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"Gentle but fast" is not on offer.</a:t>
            </a:r>
          </a:p>
          <a:p>
            <a:pPr marL="0" indent="0" algn="l">
              <a:lnSpc>
                <a:spcPct val="128000"/>
              </a:lnSpc>
              <a:spcAft>
                <a:spcPts val="100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  <a:r>
              <a:rPr sz="1500" b="1">
                <a:solidFill>
                  <a:srgbClr val="002546"/>
                </a:solidFill>
                <a:latin typeface="Arial"/>
              </a:rPr>
              <a:t>At what point does it stop feeling like information and start feeling like a malfunction?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 algn="l"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25000"/>
              </a:lnSpc>
              <a:spcAft>
                <a:spcPts val="1600"/>
              </a:spcAft>
              <a:buNone/>
            </a:pPr>
            <a:r>
              <a:rPr sz="1200" b="0">
                <a:solidFill>
                  <a:srgbClr val="002546"/>
                </a:solidFill>
                <a:latin typeface="Arial"/>
              </a:rPr>
              <a:t>phone notifications, game controller rumble, anything worn under clothing.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part   10mm 3V coin ERM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drive   2N2222 + 1N4148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pin   D9 (PWM)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draw   ~75 mA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spin-up   20-40 ms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cost   ~12 kr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000" b="1">
                <a:solidFill>
                  <a:srgbClr val="000000"/>
                </a:solidFill>
                <a:latin typeface="Arial"/>
              </a:rPr>
              <a:t>02   LRA + PIEZO DISC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000" b="1">
                <a:solidFill>
                  <a:srgbClr val="595959"/>
                </a:solidFill>
                <a:latin typeface="Arial"/>
              </a:rPr>
              <a:t>VIBRATION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Two ways out of bench 01's compromise.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LRA: resonance in 5 ms, stops just as fast.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Piezo: near-instant, almost no power.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tick, not a thump.</a:t>
            </a:r>
          </a:p>
          <a:p>
            <a:pPr marL="0" indent="0" algn="l">
              <a:lnSpc>
                <a:spcPct val="128000"/>
              </a:lnSpc>
              <a:spcAft>
                <a:spcPts val="100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  <a:r>
              <a:rPr sz="1500" b="1">
                <a:solidFill>
                  <a:srgbClr val="002546"/>
                </a:solidFill>
                <a:latin typeface="Arial"/>
              </a:rPr>
              <a:t>Which of the three vibrators would you actually put on a wrist, and why not the others?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 algn="l"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25000"/>
              </a:lnSpc>
              <a:spcAft>
                <a:spcPts val="1600"/>
              </a:spcAft>
              <a:buNone/>
            </a:pPr>
            <a:r>
              <a:rPr sz="1200" b="0">
                <a:solidFill>
                  <a:srgbClr val="002546"/>
                </a:solidFill>
                <a:latin typeface="Arial"/>
              </a:rPr>
              <a:t>keyboard clicks, Apple Watch taps, anything where lag would feel broken.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parts   LRA 10mm + piezo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driver   DRV2605L (I2C)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pin   A4 SDA / A5 SCL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effects   123 waveforms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cost   ~90 kr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000" b="1">
                <a:solidFill>
                  <a:srgbClr val="000000"/>
                </a:solidFill>
                <a:latin typeface="Arial"/>
              </a:rPr>
              <a:t>03   SOLENOID TAP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000" b="1">
                <a:solidFill>
                  <a:srgbClr val="595959"/>
                </a:solidFill>
                <a:latin typeface="Arial"/>
              </a:rPr>
              <a:t>IMPACT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One 15 ms pulse against a fingertip.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knock reads as a person tapping you.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Buzzing reads as a machine.</a:t>
            </a:r>
          </a:p>
          <a:p>
            <a:pPr marL="0" indent="0" algn="l">
              <a:lnSpc>
                <a:spcPct val="128000"/>
              </a:lnSpc>
              <a:spcAft>
                <a:spcPts val="100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  <a:r>
              <a:rPr sz="1500" b="1">
                <a:solidFill>
                  <a:srgbClr val="002546"/>
                </a:solidFill>
                <a:latin typeface="Arial"/>
              </a:rPr>
              <a:t>How many taps before it goes from alert to nagging?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 algn="l"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25000"/>
              </a:lnSpc>
              <a:spcAft>
                <a:spcPts val="1600"/>
              </a:spcAft>
              <a:buNone/>
            </a:pPr>
            <a:r>
              <a:rPr sz="1200" b="0">
                <a:solidFill>
                  <a:srgbClr val="002546"/>
                </a:solidFill>
                <a:latin typeface="Arial"/>
              </a:rPr>
              <a:t>navigation cues on the body, braille cells, alerts that must cut through noise.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part   5V push-pull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drive   MOSFET + flyback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pin   D6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peak   ~1.1 A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duty   &lt;= 25%, gets hot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cost   ~45 kr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000" b="1">
                <a:solidFill>
                  <a:srgbClr val="000000"/>
                </a:solidFill>
                <a:latin typeface="Arial"/>
              </a:rPr>
              <a:t>04   CAPACITIVE TOUCH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000" b="1">
                <a:solidFill>
                  <a:srgbClr val="595959"/>
                </a:solidFill>
                <a:latin typeface="Arial"/>
              </a:rPr>
              <a:t>TOUCH INPUT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Bare finger on a surface. Servos react.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No button. No sensor you can point at.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The input is a wire behind a plate.</a:t>
            </a:r>
          </a:p>
          <a:p>
            <a:pPr marL="0" indent="0" algn="l">
              <a:lnSpc>
                <a:spcPct val="128000"/>
              </a:lnSpc>
              <a:spcAft>
                <a:spcPts val="100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  <a:r>
              <a:rPr sz="1500" b="1">
                <a:solidFill>
                  <a:srgbClr val="002546"/>
                </a:solidFill>
                <a:latin typeface="Arial"/>
              </a:rPr>
              <a:t>Put your hand near the plate without touching. When exactly did it decide that was a touch?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 algn="l"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25000"/>
              </a:lnSpc>
              <a:spcAft>
                <a:spcPts val="1600"/>
              </a:spcAft>
              <a:buNone/>
            </a:pPr>
            <a:r>
              <a:rPr sz="1200" b="0">
                <a:solidFill>
                  <a:srgbClr val="002546"/>
                </a:solidFill>
                <a:latin typeface="Arial"/>
              </a:rPr>
              <a:t>invisible controls in wood or fabric, waterproof panels, touch-sensitive prototypes.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sense   ADCTouch on A0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baseline   25-sample roll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trigger   1.01x average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debounce   100 ms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servos   D4 + D13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cost   ~0 kr, a wire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BENCH 04: THE WHOLE TRICK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Touch input for the price of a wire.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reading &gt; baselineAverage() * 1.01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Threshold is relative, never absolute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Readings drift with humidity and mains hum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Fixed threshold works at 9am, fails at 1pm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Baseline only learns while untouched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Or a long press teaches it that a finger is normal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000" b="1">
                <a:solidFill>
                  <a:srgbClr val="000000"/>
                </a:solidFill>
                <a:latin typeface="Arial"/>
              </a:rPr>
              <a:t>05   PELTIER WARM / COOL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000" b="1">
                <a:solidFill>
                  <a:srgbClr val="595959"/>
                </a:solidFill>
                <a:latin typeface="Arial"/>
              </a:rPr>
              <a:t>THERMAL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Heats one side, cools the other.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Flip the current, it reverses.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Sit with it. Seconds before you are sure.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Hot alternating with cold reads as lukewarm.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USED FOR: slow ambient state, not alerts.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"The room is busy", never "you have mail".</a:t>
            </a:r>
          </a:p>
          <a:p>
            <a:pPr marL="0" indent="0" algn="l">
              <a:lnSpc>
                <a:spcPct val="128000"/>
              </a:lnSpc>
              <a:spcAft>
                <a:spcPts val="100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  <a:r>
              <a:rPr sz="1500" b="1">
                <a:solidFill>
                  <a:srgbClr val="002546"/>
                </a:solidFill>
                <a:latin typeface="Arial"/>
              </a:rPr>
              <a:t>Time yourself. How long until you would bet money on warmer vs cooler?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part   TEC1-12706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drive   L298N H-bridge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pin   D3 PWM / D4-5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draw   2-4 A, bench PSU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onset   3-8 s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cap   45 C in software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000" b="1">
                <a:solidFill>
                  <a:srgbClr val="000000"/>
                </a:solidFill>
                <a:latin typeface="Arial"/>
              </a:rPr>
              <a:t>06   THE SAME SIGNAL, TWICE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000" b="1">
                <a:solidFill>
                  <a:srgbClr val="595959"/>
                </a:solidFill>
                <a:latin typeface="Arial"/>
              </a:rPr>
              <a:t>AUDIO + TOUCH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One driver. 40 Hz you feel, 400 Hz you hear.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Together is not louder. It is more certain.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Two channels, same message.</a:t>
            </a:r>
          </a:p>
          <a:p>
            <a:pPr marL="0" indent="0" algn="l">
              <a:lnSpc>
                <a:spcPct val="128000"/>
              </a:lnSpc>
              <a:spcAft>
                <a:spcPts val="100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  <a:r>
              <a:rPr sz="1500" b="1">
                <a:solidFill>
                  <a:srgbClr val="002546"/>
                </a:solidFill>
                <a:latin typeface="Arial"/>
              </a:rPr>
              <a:t>With ear defenders on, does the signal still work?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 algn="l"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25000"/>
              </a:lnSpc>
              <a:spcAft>
                <a:spcPts val="1600"/>
              </a:spcAft>
              <a:buNone/>
            </a:pPr>
            <a:r>
              <a:rPr sz="1200" b="0">
                <a:solidFill>
                  <a:srgbClr val="002546"/>
                </a:solidFill>
                <a:latin typeface="Arial"/>
              </a:rPr>
              <a:t>noisy or bright environments, and accessibility. If one channel fails, one lands.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part   bone-conduction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amp   PAM8403 class-D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pin   D11 (tone)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felt   ~40 Hz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heard   ~400 Hz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cost   ~110 kr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NOW MAKE ONE DO SOMETHING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FIVE TASKS, ONE BOARD 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Upload, change two numbers, upload again. That loop is the point.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01   Make something spin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02   Make something tap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03   Make something warm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04   Make it notice you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05   Make it answer back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1 to 3 are output. 4 is input. 5 is both.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You are not expected to finish all five.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THE TASK SKETCHES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Every sketch runs the moment you upload it. Nothing to wire.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CHANGE ME block at the top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Two or three numbers. Edit, upload, feel the difference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THINGS TO TRY list at the bottom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Four experiments, roughly in order of difficulty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 last one is usually the interesting one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github.com/gust1527/multimodal-actuator-workshop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INPUTS, AND PRIOR ART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INPUTS WORTH KNOWING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table, not a rotation. Wander over during the build.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Capacitive touch. A wire. See bench 04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Heart rate (PPG). Useless once the hand moves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Skin conductance (GSR). Relative change only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Flex sensor. The cheap data glove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Pressure (FSR). Calibrate every pad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Your own phone. No soldering at all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TWO RIGS THAT ALREADY EXIST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Built here, by students at roughly your stage.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Moving screen, Arduino Uno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Breathes when idle. Retreats when touched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Easing and idle motion do the work. A dozen lines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Instrumented sock, ESP32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Six force sensors under a foot, batched over Wi-Fi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Calibrate per sensor. Batch your writes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BUILD ONE SIGNAL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BRIEF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30 minutes. Not long enough to be precious about it.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One actuator. Three messages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Arrived. Something wrong. Finished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Vary two things only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Rhythm of the pulses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How strong they are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Blind test: they name all three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Note which two got confused, and why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CONSTRAINT THAT MATTERS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recipient cannot look at the device.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it only works while someone watches a screen,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you built a visual interface with a motor glued to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GO AND TOUCH THINGS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github.com/gust1527/multimodal-actuator-workshop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