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0:00. Start here. Don't read the slide.</a:t>
            </a:r>
          </a:p>
          <a:p/>
          <a:p>
            <a:r>
              <a:t>Open with the failing demo, not with talking. Have the coin motor and the</a:t>
            </a:r>
          </a:p>
          <a:p>
            <a:r>
              <a:t>solenoid both wired and ready before anyone sits down.</a:t>
            </a:r>
          </a:p>
          <a:p/>
          <a:p>
            <a:r>
              <a:t>Buzz a phone-style notification on the ERM. Then send the same message on the</a:t>
            </a:r>
          </a:p>
          <a:p>
            <a:r>
              <a:t>solenoid. Ask: which felt more urgent? Let them answer. Nobody needs theory</a:t>
            </a:r>
          </a:p>
          <a:p>
            <a:r>
              <a:t>for that, and that IS the argument for the whole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honest version: every year projects end up on the screen and the</a:t>
            </a:r>
          </a:p>
          <a:p>
            <a:r>
              <a:t>speaker, and touch gets designed on paper then dropped.</a:t>
            </a:r>
          </a:p>
          <a:p/>
          <a:p>
            <a:r>
              <a:t>Not because it was wrong. Because nobody had held the parts.</a:t>
            </a:r>
          </a:p>
          <a:p/>
          <a:p>
            <a:r>
              <a:t>They get the Actuators lecture tomorrow. Today is the hands, not the theory.</a:t>
            </a:r>
          </a:p>
          <a:p/>
          <a:p>
            <a:r>
              <a:t>Keep this short, 2 minutes. They came to do things, not hear framing.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rules firmly, because the rotation collapses if you don't.</a:t>
            </a:r>
          </a:p>
          <a:p/>
          <a:p>
            <a:r>
              <a:t>Nobody wires anything today. Everything is pre-wired and running. They turn</a:t>
            </a:r>
          </a:p>
          <a:p>
            <a:r>
              <a:t>one knob and answer one question.</a:t>
            </a:r>
          </a:p>
          <a:p/>
          <a:p>
            <a:r>
              <a:t>Say out loud: the timer is hard. Ten minutes means ten minutes. Bench 3, the</a:t>
            </a:r>
          </a:p>
          <a:p>
            <a:r>
              <a:t>solenoid, is the one people will not want to leave.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it, don't narrate it. Fifteen seconds.</a:t>
            </a:r>
          </a:p>
          <a:p/>
          <a:p>
            <a:r>
              <a:t>Practical: assign each group a DIFFERENT starting bench so they rotate cleanly.</a:t>
            </a:r>
          </a:p>
          <a:p>
            <a:r>
              <a:t>Six groups, six benches. Write starting numbers on the whiteboard.</a:t>
            </a:r>
          </a:p>
          <a:p/>
          <a:p>
            <a:r>
              <a:t>If a bench breaks mid-session, pull it and go to five. Five working benches</a:t>
            </a:r>
          </a:p>
          <a:p>
            <a:r>
              <a:t>beat six with a mystery.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0:10. Rotation starts. Set a visible timer.</a:t>
            </a:r>
          </a:p>
          <a:p/>
          <a:p>
            <a:r>
              <a:t>You are now a timekeeper, not a lecturer. Call the rotation loudly every ten</a:t>
            </a:r>
          </a:p>
          <a:p>
            <a:r>
              <a:t>minutes. Circulate, but do not rescue. Let them poke at things.</a:t>
            </a:r>
          </a:p>
          <a:p/>
          <a:p>
            <a:r>
              <a:t>The bench slides that follow are reference for YOU and for anyone who wants to</a:t>
            </a:r>
          </a:p>
          <a:p>
            <a:r>
              <a:t>look back. Do not present them one by one before the rotation. That would eat</a:t>
            </a:r>
          </a:p>
          <a:p>
            <a:r>
              <a:t>the hour.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limitation, made physical: speed and strength are mechanically</a:t>
            </a:r>
          </a:p>
          <a:p>
            <a:r>
              <a:t>linked on this motor. You cannot get gentle-but-fast.</a:t>
            </a:r>
          </a:p>
          <a:p/>
          <a:p>
            <a:r>
              <a:t>Common question: "why does it feel weak at low PWM?" Below about 90 the motor</a:t>
            </a:r>
          </a:p>
          <a:p>
            <a:r>
              <a:t>cannot overcome its own friction. That floor is real and worth naming.</a:t>
            </a:r>
          </a:p>
          <a:p/>
          <a:p>
            <a:r>
              <a:t>Never let anyone rewire this to a bare pin. 40 mA limit, motor pulls 75.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escape from bench 1's compromise. LRA is the phone-keyboard feel:</a:t>
            </a:r>
          </a:p>
          <a:p>
            <a:r>
              <a:t>5 ms on, 5 ms off. Piezo is sharp but shallow.</a:t>
            </a:r>
          </a:p>
          <a:p/>
          <a:p>
            <a:r>
              <a:t>If the LRA sounds wrong, the DRV2605L is in ERM mode. It must be told which</a:t>
            </a:r>
          </a:p>
          <a:p>
            <a:r>
              <a:t>type it's driving. That's the failure to expect here.</a:t>
            </a:r>
          </a:p>
          <a:p/>
          <a:p>
            <a:r>
              <a:t>Good moment to point out: 123 built-in waveforms means they don't have to</a:t>
            </a:r>
          </a:p>
          <a:p>
            <a:r>
              <a:t>design vibration from scratch in their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memorable one. A single knock reads as a person tapping you</a:t>
            </a:r>
          </a:p>
          <a:p>
            <a:r>
              <a:t>rather than a machine signalling. Worth naming out loud, because it is the</a:t>
            </a:r>
          </a:p>
          <a:p>
            <a:r>
              <a:t>whole reason it feels different.</a:t>
            </a:r>
          </a:p>
          <a:p/>
          <a:p>
            <a:r>
              <a:t>Watch the duty cycle. Solenoids get hot fast, so if it has been hammering for</a:t>
            </a:r>
          </a:p>
          <a:p>
            <a:r>
              <a:t>ten minutes, let it rest.</a:t>
            </a:r>
          </a:p>
          <a:p/>
          <a:p>
            <a:r>
              <a:t>Separate supply, common ground. On USB alone the board browns out and resets,</a:t>
            </a:r>
          </a:p>
          <a:p>
            <a:r>
              <a:t>which looks like a code bug and isn't.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surprise bench. No breakout board. The input is a wire.</a:t>
            </a:r>
          </a:p>
          <a:p/>
          <a:p>
            <a:r>
              <a:t>Have the Serial Plotter on a screen here. Watching the baseline wander while</a:t>
            </a:r>
          </a:p>
          <a:p>
            <a:r>
              <a:t>the trigger line tracks it teaches the whole idea in ten seconds.</a:t>
            </a:r>
          </a:p>
          <a:p/>
          <a:p>
            <a:r>
              <a:t>Let someone hold their hand NEAR without touching. The gradual approach is</a:t>
            </a:r>
          </a:p>
          <a:p>
            <a:r>
              <a:t>what makes the threshold question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This is the one idea most worth stealing from today.</a:t>
            </a:r>
          </a:p>
          <a:p/>
          <a:p>
            <a:r>
              <a:t>Two things students get wrong:</a:t>
            </a:r>
          </a:p>
          <a:p/>
          <a:p>
            <a:r>
              <a:t>1. They use a fixed threshold. Works in the morning, fails after lunch,</a:t>
            </a:r>
          </a:p>
          <a:p>
            <a:r>
              <a:t>   because the reading drifts with humidity and mains hum.</a:t>
            </a:r>
          </a:p>
          <a:p/>
          <a:p>
            <a:r>
              <a:t>2. They feed the baseline buffer always. Then a long press teaches the</a:t>
            </a:r>
          </a:p>
          <a:p>
            <a:r>
              <a:t>   baseline that a finger is normal, and the touch silently stops working.</a:t>
            </a:r>
          </a:p>
          <a:p>
            <a:r>
              <a:t>   The buffer must ONLY learn while untouched.</a:t>
            </a:r>
          </a:p>
          <a:p/>
          <a:p>
            <a:r>
              <a:t>Code is in the repo, bench 04, commented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Thermal. People are bad at reading thermal patterns, and this is</a:t>
            </a:r>
          </a:p>
          <a:p>
            <a:r>
              <a:t>where they find that out for themselves.</a:t>
            </a:r>
          </a:p>
          <a:p/>
          <a:p>
            <a:r>
              <a:t>Make them time themselves. The 3 to 8 second onset kills a lot of bad project</a:t>
            </a:r>
          </a:p>
          <a:p>
            <a:r>
              <a:t>ideas before they get proposed, which is exactly what you want happening now</a:t>
            </a:r>
          </a:p>
          <a:p>
            <a:r>
              <a:t>rather than in week 46.</a:t>
            </a:r>
          </a:p>
          <a:p/>
          <a:p>
            <a:r>
              <a:t>Safety: heatsink on the hot side, capped at 45 C. Skin burns above 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Redundancy, made physical. Same driver, two frequencies: one you feel,</a:t>
            </a:r>
          </a:p>
          <a:p>
            <a:r>
              <a:t>one you hear.</a:t>
            </a:r>
          </a:p>
          <a:p/>
          <a:p>
            <a:r>
              <a:t>The point isn't that together is louder. It's that together is more CERTAIN.</a:t>
            </a:r>
          </a:p>
          <a:p>
            <a:r>
              <a:t>Sending the same thing down two channels is the cheapest reliability their</a:t>
            </a:r>
          </a:p>
          <a:p>
            <a:r>
              <a:t>projects can buy.</a:t>
            </a:r>
          </a:p>
          <a:p/>
          <a:p>
            <a:r>
              <a:t>Ear defenders must actually be used or the comparison is dishonest.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1:10. Rotation over. Round-the-room now.</a:t>
            </a:r>
          </a:p>
          <a:p/>
          <a:p>
            <a:r>
              <a:t>One sentence per group: what surprised you. No slides, no laptops. Ten minutes.</a:t>
            </a:r>
          </a:p>
          <a:p/>
          <a:p>
            <a:r>
              <a:t>Expect the thermal group to report the delay. Let that land, it is more</a:t>
            </a:r>
          </a:p>
          <a:p>
            <a:r>
              <a:t>persuasive coming from a peer than from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Mention, don't teach. These sit on one table with a sign.</a:t>
            </a:r>
          </a:p>
          <a:p/>
          <a:p>
            <a:r>
              <a:t>The honest warnings matter more than the specs: PPG is garbage once the hand</a:t>
            </a:r>
          </a:p>
          <a:p>
            <a:r>
              <a:t>moves, GSR drifts so only relative change is usable, FSRs need per-pad</a:t>
            </a:r>
          </a:p>
          <a:p>
            <a:r>
              <a:t>calibration.</a:t>
            </a:r>
          </a:p>
          <a:p/>
          <a:p>
            <a:r>
              <a:t>Push the phone option hard. For a lot of projects it genuinely beats</a:t>
            </a:r>
          </a:p>
          <a:p>
            <a:r>
              <a:t>everything else on the table and needs no soldering.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minutes, and show the actual repos on screen if you can.</a:t>
            </a:r>
          </a:p>
          <a:p/>
          <a:p>
            <a:r>
              <a:t>The argument: this was built by students at your stage, not by a lab with a</a:t>
            </a:r>
          </a:p>
          <a:p>
            <a:r>
              <a:t>budget. The gap between "we should use haptics" and "it moves when you touch</a:t>
            </a:r>
          </a:p>
          <a:p>
            <a:r>
              <a:t>it" is smaller than it looks.</a:t>
            </a:r>
          </a:p>
          <a:p/>
          <a:p>
            <a:r>
              <a:t>Note for you: the sock repo has a hardcoded Wi-Fi password and live patient</a:t>
            </a:r>
          </a:p>
          <a:p>
            <a:r>
              <a:t>IDs in it. Scrub before showing, or show only the calibration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1:20. Build starts. Thirty minutes.</a:t>
            </a:r>
          </a:p>
          <a:p/>
          <a:p>
            <a:r>
              <a:t>Groups pick any actuator from the rotation. Most will pick bench 1 or 3</a:t>
            </a:r>
          </a:p>
          <a:p>
            <a:r>
              <a:t>because they are simplest. That is fine, the constraint does the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brief out once, then get out of the way.</a:t>
            </a:r>
          </a:p>
          <a:p/>
          <a:p>
            <a:r>
              <a:t>Rhythm and strength only. If someone asks to add a second actuator, say no.</a:t>
            </a:r>
          </a:p>
          <a:p>
            <a:r>
              <a:t>The constraint is the exercise. Encoding within one channel is the skill.</a:t>
            </a:r>
          </a:p>
          <a:p/>
          <a:p>
            <a:r>
              <a:t>Suggested set is on the slide, but let them choose their own three messages if</a:t>
            </a:r>
          </a:p>
          <a:p>
            <a:r>
              <a:t>they have a better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line worth repeating twice.</a:t>
            </a:r>
          </a:p>
          <a:p/>
          <a:p>
            <a:r>
              <a:t>1:50. Blind test. Swap groups, receiver looks away, guess all three.</a:t>
            </a:r>
          </a:p>
          <a:p/>
          <a:p>
            <a:r>
              <a:t>Then have each group name which two got confused and what would have separated</a:t>
            </a:r>
          </a:p>
          <a:p>
            <a:r>
              <a:t>them. That confusion is the actual learning, not the successful ones.</a:t>
            </a:r>
          </a:p>
          <a:p/>
          <a:p>
            <a:r>
              <a:t>Pack down: everything back in the box, including the resistors. It will not</a:t>
            </a:r>
          </a:p>
          <a:p>
            <a:r>
              <a:t>all come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them at the repo. Bench 01 and 04 sketches are commented for them.</a:t>
            </a:r>
          </a:p>
          <a:p/>
          <a:p>
            <a:r>
              <a:t>Last thing to say: pick your actuator before you design the interaction, not</a:t>
            </a:r>
          </a:p>
          <a:p>
            <a:r>
              <a:t>after. Today was so they can do that from experience rather than a datasheet.</a:t>
            </a:r>
          </a:p>
          <a:p/>
          <a:p>
            <a:r>
              <a:t>If anyone wants to borrow parts for the project weeks, now is when they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025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ctrTitle" idx="0"/>
          </p:nvPr>
        </p:nvSpPr>
        <p:spPr>
          <a:xfrm>
            <a:off x="914400" y="2540000"/>
            <a:ext cx="10414000" cy="1524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5400" b="1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sp>
        <p:nvSpPr>
          <p:cNvPr id="101" name="Subtitle"/>
          <p:cNvSpPr>
            <a:spLocks noGrp="1"/>
          </p:cNvSpPr>
          <p:nvPr>
            <p:ph type="subTitle" idx="1"/>
          </p:nvPr>
        </p:nvSpPr>
        <p:spPr>
          <a:xfrm>
            <a:off x="914400" y="4191000"/>
            <a:ext cx="9652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2000" b="0">
                <a:solidFill>
                  <a:srgbClr val="FFFFFF"/>
                </a:solidFill>
                <a:latin typeface="Arial"/>
              </a:defRPr>
            </a:pPr>
            <a:endParaRPr/>
          </a:p>
        </p:txBody>
      </p:sp>
      <p:pic>
        <p:nvPicPr>
          <p:cNvPr id="2" name="Picture 1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3" name="Picture 2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PROTOTYPING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FFFFFF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10541000" cy="7112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2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ody"/>
          <p:cNvSpPr>
            <a:spLocks noGrp="1"/>
          </p:cNvSpPr>
          <p:nvPr>
            <p:ph type="body" idx="1"/>
          </p:nvPr>
        </p:nvSpPr>
        <p:spPr>
          <a:xfrm>
            <a:off x="914400" y="1905000"/>
            <a:ext cx="10033000" cy="3937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7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 Title"/>
          <p:cNvSpPr>
            <a:spLocks noGrp="1"/>
          </p:cNvSpPr>
          <p:nvPr>
            <p:ph type="title" idx="0"/>
          </p:nvPr>
        </p:nvSpPr>
        <p:spPr>
          <a:xfrm>
            <a:off x="914400" y="2921000"/>
            <a:ext cx="10414000" cy="1651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44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6510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ench Title"/>
          <p:cNvSpPr>
            <a:spLocks noGrp="1"/>
          </p:cNvSpPr>
          <p:nvPr>
            <p:ph type="title" idx="0"/>
          </p:nvPr>
        </p:nvSpPr>
        <p:spPr>
          <a:xfrm>
            <a:off x="914400" y="736600"/>
            <a:ext cx="7620000" cy="762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98000"/>
              </a:lnSpc>
              <a:defRPr sz="3000" b="1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1" name="Bench Description"/>
          <p:cNvSpPr>
            <a:spLocks noGrp="1"/>
          </p:cNvSpPr>
          <p:nvPr>
            <p:ph type="body" idx="1"/>
          </p:nvPr>
        </p:nvSpPr>
        <p:spPr>
          <a:xfrm>
            <a:off x="914400" y="1701800"/>
            <a:ext cx="6604000" cy="3810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6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102" name="Spec Block"/>
          <p:cNvSpPr>
            <a:spLocks noGrp="1"/>
          </p:cNvSpPr>
          <p:nvPr>
            <p:ph type="body" idx="2"/>
          </p:nvPr>
        </p:nvSpPr>
        <p:spPr>
          <a:xfrm>
            <a:off x="8255000" y="2133600"/>
            <a:ext cx="3175000" cy="3048000"/>
          </a:xfrm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28000"/>
              </a:lnSpc>
              <a:defRPr sz="1200" b="0">
                <a:solidFill>
                  <a:srgbClr val="000000"/>
                </a:solidFill>
                <a:latin typeface="Arial"/>
              </a:defRPr>
            </a:pPr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914400" y="1498600"/>
            <a:ext cx="584200" cy="317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0" y="6248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MULTIMODAL INTERACTION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PROTOTYPING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0" y="6248400"/>
            <a:ext cx="2794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GUSTAV SIMONSEN</a:t>
            </a:r>
          </a:p>
          <a:p>
            <a:pPr>
              <a:lnSpc>
                <a:spcPct val="115000"/>
              </a:lnSpc>
            </a:pPr>
            <a:r>
              <a:rPr sz="700" b="0">
                <a:solidFill>
                  <a:srgbClr val="000000"/>
                </a:solidFill>
                <a:latin typeface="Arial"/>
              </a:rPr>
              <a:t>TEACHING ASSISTANT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FEEL BEFORE YOU BUILD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Hands-on prototyping with actuators  ·  2 hours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WHY WE ARE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You can read a datasheet. You have never held one of these.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Today you put a vibration motor against your own wrist, decide it feels cheap, and pick something else. Better now than in week 46.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Every year, projects end up built entirely on the screen and the speaker.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Not because touch was the wrong choice. Because nobody knew that a coin motor costs 12 kr and takes two wires.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HOW TODAY 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Six benches. Already wired. Already running.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Ten minutes each, on a hard timer.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change one parameter and answer one question.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 wire nothing. That is what the project weeks are for.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Then you build one signal and someone else tries to read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RUN SHEET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600"/>
              </a:spcAft>
              <a:buNone/>
            </a:pPr>
            <a:r>
              <a:rPr sz="1500" b="0">
                <a:solidFill>
                  <a:srgbClr val="595959"/>
                </a:solidFill>
                <a:latin typeface="Arial"/>
              </a:rPr>
              <a:t>Times are offsets from the start. The rotation is the spine of the session, so keep it moving.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0:00     10 min    Two motors, same message. Which felt urgent?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0:10     60 min    Bench rotation, 10 minutes each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1:10     10 min    Round-the-room: what surprised you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1:20     30 min    Build one signal</a:t>
            </a:r>
          </a:p>
          <a:p>
            <a:pPr marL="0" indent="0" algn="l">
              <a:lnSpc>
                <a:spcPct val="128000"/>
              </a:lnSpc>
              <a:spcAft>
                <a:spcPts val="1200"/>
              </a:spcAft>
              <a:buNone/>
            </a:pPr>
            <a:r>
              <a:rPr sz="1400" b="0">
                <a:solidFill>
                  <a:srgbClr val="000000"/>
                </a:solidFill>
                <a:latin typeface="Consolas"/>
              </a:rPr>
              <a:t>1:50     10 min    Blind test and pack down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THE SIX BENCHES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000" b="1">
                <a:solidFill>
                  <a:srgbClr val="000000"/>
                </a:solidFill>
                <a:latin typeface="Arial"/>
              </a:rPr>
              <a:t>01   ERM COIN MOTOR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000"/>
              </a:spcAft>
              <a:buNone/>
            </a:pPr>
            <a:r>
              <a:rPr sz="1000" b="1">
                <a:solidFill>
                  <a:srgbClr val="595959"/>
                </a:solidFill>
                <a:latin typeface="Arial"/>
              </a:rPr>
              <a:t>VIBRATION</a:t>
            </a:r>
          </a:p>
          <a:p>
            <a:pPr marL="0" indent="0" algn="l">
              <a:lnSpc>
                <a:spcPct val="12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 off-centre weight on a motor shaft. The same part that is in your phone and every game controller.</a:t>
            </a:r>
          </a:p>
          <a:p>
            <a:pPr marL="0" indent="0" algn="l">
              <a:lnSpc>
                <a:spcPct val="12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Turn the knob and notice what you cannot do. Speed and strength are mechanically welded together, so "gentle but fast" is not available to you.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  <a:r>
              <a:rPr sz="1500" b="1">
                <a:solidFill>
                  <a:srgbClr val="002546"/>
                </a:solidFill>
                <a:latin typeface="Arial"/>
              </a:rPr>
              <a:t>At what point does it stop feeling like information and start feeling like a malfunction?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10mm 3V coin ERM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drive   2N2222 + 1N4148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D9 (PWM)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draw   ~75 mA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spin-up   20-40 ms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~12 kr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000" b="1">
                <a:solidFill>
                  <a:srgbClr val="000000"/>
                </a:solidFill>
                <a:latin typeface="Arial"/>
              </a:rPr>
              <a:t>02   LRA + PIEZO DISC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000"/>
              </a:spcAft>
              <a:buNone/>
            </a:pPr>
            <a:r>
              <a:rPr sz="1000" b="1">
                <a:solidFill>
                  <a:srgbClr val="595959"/>
                </a:solidFill>
                <a:latin typeface="Arial"/>
              </a:rPr>
              <a:t>VIBRATION</a:t>
            </a:r>
          </a:p>
          <a:p>
            <a:pPr marL="0" indent="0" algn="l">
              <a:lnSpc>
                <a:spcPct val="12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Two ways out of the ERM's compromise.</a:t>
            </a:r>
          </a:p>
          <a:p>
            <a:pPr marL="0" indent="0" algn="l">
              <a:lnSpc>
                <a:spcPct val="12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The LRA hits resonance in about 5 ms and stops just as fast, which is why phone keyboards use it.</a:t>
            </a:r>
          </a:p>
          <a:p>
            <a:pPr marL="0" indent="0" algn="l">
              <a:lnSpc>
                <a:spcPct val="12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The piezo is a crystal that flexes when you put current across it. Near-instant, almost no power, but shallow. A tick, not a thump.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  <a:r>
              <a:rPr sz="1500" b="1">
                <a:solidFill>
                  <a:srgbClr val="002546"/>
                </a:solidFill>
                <a:latin typeface="Arial"/>
              </a:rPr>
              <a:t>Which of the three vibrators would you actually put on a wrist, and why not the others?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parts   LRA 10mm + piezo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driver   DRV2605L (I2C)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pin   A4 SDA / A5 SCL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effects   123 waveforms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~90 kr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000" b="1">
                <a:solidFill>
                  <a:srgbClr val="000000"/>
                </a:solidFill>
                <a:latin typeface="Arial"/>
              </a:rPr>
              <a:t>03   SOLENOID TAP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000"/>
              </a:spcAft>
              <a:buNone/>
            </a:pPr>
            <a:r>
              <a:rPr sz="1000" b="1">
                <a:solidFill>
                  <a:srgbClr val="595959"/>
                </a:solidFill>
                <a:latin typeface="Arial"/>
              </a:rPr>
              <a:t>IMPACT</a:t>
            </a:r>
          </a:p>
          <a:p>
            <a:pPr marL="0" indent="0" algn="l">
              <a:lnSpc>
                <a:spcPct val="12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push-pull solenoid firing a single 15 ms pulse against a fingertip.</a:t>
            </a:r>
          </a:p>
          <a:p>
            <a:pPr marL="0" indent="0" algn="l">
              <a:lnSpc>
                <a:spcPct val="12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This is the bench everyone remembers. A single knock carries urgency that no amount of buzzing does, because it reads as a person tapping you rather than a machine signalling.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  <a:r>
              <a:rPr sz="1500" b="1">
                <a:solidFill>
                  <a:srgbClr val="002546"/>
                </a:solidFill>
                <a:latin typeface="Arial"/>
              </a:rPr>
              <a:t>How many taps before it goes from alert to nagging?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5V push-pull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drive   MOSFET + flyback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D6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peak   ~1.1 A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duty   &lt;= 25%, gets hot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~45 kr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000" b="1">
                <a:solidFill>
                  <a:srgbClr val="000000"/>
                </a:solidFill>
                <a:latin typeface="Arial"/>
              </a:rPr>
              <a:t>04   CAPACITIVE TOUCH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000"/>
              </a:spcAft>
              <a:buNone/>
            </a:pPr>
            <a:r>
              <a:rPr sz="1000" b="1">
                <a:solidFill>
                  <a:srgbClr val="595959"/>
                </a:solidFill>
                <a:latin typeface="Arial"/>
              </a:rPr>
              <a:t>TOUCH INPUT</a:t>
            </a:r>
          </a:p>
          <a:p>
            <a:pPr marL="0" indent="0" algn="l">
              <a:lnSpc>
                <a:spcPct val="12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Touch a surface with a bare finger and the servos react.</a:t>
            </a:r>
          </a:p>
          <a:p>
            <a:pPr marL="0" indent="0" algn="l">
              <a:lnSpc>
                <a:spcPct val="12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There is no button and no sensor you can point at. The input is a wire taped behind a plate, read on an analogue pin.</a:t>
            </a:r>
          </a:p>
          <a:p>
            <a:pPr marL="0" indent="0" algn="l">
              <a:lnSpc>
                <a:spcPct val="12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Any surface can become an input this way: foil, card, fabric.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  <a:r>
              <a:rPr sz="1500" b="1">
                <a:solidFill>
                  <a:srgbClr val="002546"/>
                </a:solidFill>
                <a:latin typeface="Arial"/>
              </a:rPr>
              <a:t>Put your hand near the plate without touching. When exactly did it decide that was a touch?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sense   ADCTouch on A0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baseline   25-sample roll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trigger   1.01x average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debounce   100 ms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servos   D4 + D13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~0 kr, a wire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BENCH 04: THE WHOLE TRICK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Touch input for the price of a wire. The thinking is where it costs you.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reading &gt; baselineAverage() * 1.01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threshold is RELATIVE, never absolute.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Readings drift with humidity, with mains hum, with how you are sitting. A fixed threshold works in the morning and fails after lunch.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baseline only learns while untouched.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Otherwise a long press slowly teaches it that a finger is normal, and the touch quietly stops registering.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000" b="1">
                <a:solidFill>
                  <a:srgbClr val="000000"/>
                </a:solidFill>
                <a:latin typeface="Arial"/>
              </a:rPr>
              <a:t>05   PELTIER WARM / COOL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000"/>
              </a:spcAft>
              <a:buNone/>
            </a:pPr>
            <a:r>
              <a:rPr sz="1000" b="1">
                <a:solidFill>
                  <a:srgbClr val="595959"/>
                </a:solidFill>
                <a:latin typeface="Arial"/>
              </a:rPr>
              <a:t>THERMAL</a:t>
            </a:r>
          </a:p>
          <a:p>
            <a:pPr marL="0" indent="0" algn="l">
              <a:lnSpc>
                <a:spcPct val="12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 thermoelectric tile: heats one side, cools the other, reverses when you flip the current.</a:t>
            </a:r>
          </a:p>
          <a:p>
            <a:pPr marL="0" indent="0" algn="l">
              <a:lnSpc>
                <a:spcPct val="12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Sit with it. It takes several seconds before you are sure which way it went.</a:t>
            </a:r>
          </a:p>
          <a:p>
            <a:pPr marL="0" indent="0" algn="l">
              <a:lnSpc>
                <a:spcPct val="12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And alternating hot with cold does not read as a pattern. It just reads as lukewarm.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  <a:r>
              <a:rPr sz="1500" b="1">
                <a:solidFill>
                  <a:srgbClr val="002546"/>
                </a:solidFill>
                <a:latin typeface="Arial"/>
              </a:rPr>
              <a:t>Time yourself. How long until you would bet money on warmer vs cooler?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TEC1-12706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drive   L298N H-bridge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D3 PWM / D4-5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draw   2-4 A, bench PSU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onset   3-8 s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cap   45 C in software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000" b="1">
                <a:solidFill>
                  <a:srgbClr val="000000"/>
                </a:solidFill>
                <a:latin typeface="Arial"/>
              </a:rPr>
              <a:t>06   THE SAME SIGNAL, TWICE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000"/>
              </a:spcAft>
              <a:buNone/>
            </a:pPr>
            <a:r>
              <a:rPr sz="1000" b="1">
                <a:solidFill>
                  <a:srgbClr val="595959"/>
                </a:solidFill>
                <a:latin typeface="Arial"/>
              </a:rPr>
              <a:t>AUDIO + TOUCH</a:t>
            </a:r>
          </a:p>
          <a:p>
            <a:pPr marL="0" indent="0" algn="l">
              <a:lnSpc>
                <a:spcPct val="12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One transducer on a plate, playing 40 Hz you feel and 400 Hz you hear, both from the same driver.</a:t>
            </a:r>
          </a:p>
          <a:p>
            <a:pPr marL="0" indent="0" algn="l">
              <a:lnSpc>
                <a:spcPct val="12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Toggle between them alone and together.</a:t>
            </a:r>
          </a:p>
          <a:p>
            <a:pPr marL="0" indent="0" algn="l">
              <a:lnSpc>
                <a:spcPct val="128000"/>
              </a:lnSpc>
              <a:spcAft>
                <a:spcPts val="900"/>
              </a:spcAft>
              <a:buNone/>
            </a:pPr>
            <a:r>
              <a:rPr sz="1600" b="0">
                <a:solidFill>
                  <a:srgbClr val="000000"/>
                </a:solidFill>
                <a:latin typeface="Arial"/>
              </a:rPr>
              <a:t>Together is not louder. It is more certain. Sending the same thing down two channels is the cheapest reliability your project can buy.</a:t>
            </a: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400"/>
              </a:spcAft>
              <a:buNone/>
            </a:pPr>
            <a:r>
              <a:rPr sz="900" b="1">
                <a:solidFill>
                  <a:srgbClr val="595959"/>
                </a:solidFill>
                <a:latin typeface="Arial"/>
              </a:rPr>
              <a:t>CARD QUESTION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  <a:r>
              <a:rPr sz="1500" b="1">
                <a:solidFill>
                  <a:srgbClr val="002546"/>
                </a:solidFill>
                <a:latin typeface="Arial"/>
              </a:rPr>
              <a:t>With ear defenders on, does the signal still work?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part   bone-conduction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amp   PAM8403 class-D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pin   D11 (tone)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felt   ~40 Hz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heard   ~400 Hz</a:t>
            </a:r>
          </a:p>
          <a:p>
            <a:pPr marL="0" indent="0" algn="l">
              <a:lnSpc>
                <a:spcPct val="120000"/>
              </a:lnSpc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Consolas"/>
              </a:rPr>
              <a:t>cost   ~110 kr</a:t>
            </a:r>
          </a:p>
        </p:txBody>
      </p:sp>
      <p:pic>
        <p:nvPicPr>
          <p:cNvPr id="5" name="Picture 4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6" name="Picture 5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INPUTS, AND PRIOR ART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INPUTS WORTH KNOWING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One table, not a rotation. Wander over during the build.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Capacitive touch. A wire on an analogue pin. See bench 04.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Heart rate (PPG). Steady at rest, useless once the hand moves.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Skin conductance (GSR). Drifts constantly, so relative change only.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Flex sensor. The cheap route to a data glove.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Pressure (FSR). How hard, not just whether. Calibrate each pad.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Your own phone. Accelerometer, gyro, mic, camera, vibration motor. No soldering at all.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TWO RIGS THAT ALREADY EXIST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Built here, by students at roughly your stage.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Capacitive sensing, servos and actuators (Arduino Uno)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A moving screen that breathes when idle and retreats when you touch it, with a browser control panel over the serial port.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Take away: easing and idle motion are what separate "a servo moved" from "it reacted to me". Both are a dozen lines.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Instrumented sock (ESP32, bachelor project)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Six force sensors under a foot, sent to a server over Wi-Fi in batches, each with its own calibration constants.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500" b="0">
                <a:solidFill>
                  <a:srgbClr val="000000"/>
                </a:solidFill>
                <a:latin typeface="Arial"/>
              </a:rPr>
              <a:t>• Take away: calibrate per sensor, and batch your writes.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4400" b="1">
                <a:solidFill>
                  <a:srgbClr val="000000"/>
                </a:solidFill>
                <a:latin typeface="Arial"/>
              </a:rPr>
              <a:t>BUILD ONE SIGNAL</a:t>
            </a:r>
          </a:p>
        </p:txBody>
      </p:sp>
      <p:pic>
        <p:nvPicPr>
          <p:cNvPr id="3" name="Picture 2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4" name="Picture 3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BRIEF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1400"/>
              </a:spcAft>
              <a:buNone/>
            </a:pPr>
            <a:r>
              <a:rPr sz="1700" b="0">
                <a:solidFill>
                  <a:srgbClr val="595959"/>
                </a:solidFill>
                <a:latin typeface="Arial"/>
              </a:rPr>
              <a:t>30 minutes. Deliberately not long enough to be precious about it.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Pick one actuator from the rotation.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Encode three messages: arrived, something wrong, finished.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Vary only two things: the RHYTHM of the pulses, and how STRONG they are. No swapping actuators between messages.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Hand it to another group with the screen turned away. They name all three.</a:t>
            </a: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Write down which two got confused, and what would have separated them.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3200" b="1">
                <a:solidFill>
                  <a:srgbClr val="000000"/>
                </a:solidFill>
                <a:latin typeface="Arial"/>
              </a:rPr>
              <a:t>THE CONSTRAINT THAT MATTERS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1">
                <a:solidFill>
                  <a:srgbClr val="000000"/>
                </a:solidFill>
                <a:latin typeface="Arial"/>
              </a:rPr>
              <a:t>The recipient cannot look at the device.</a:t>
            </a:r>
          </a:p>
          <a:p>
            <a:pPr marL="0" indent="0" algn="l">
              <a:lnSpc>
                <a:spcPct val="128000"/>
              </a:lnSpc>
              <a:spcAft>
                <a:spcPts val="0"/>
              </a:spcAft>
              <a:buNone/>
            </a:pPr>
          </a:p>
          <a:p>
            <a:pPr marL="0" indent="0" algn="l">
              <a:lnSpc>
                <a:spcPct val="128000"/>
              </a:lnSpc>
              <a:spcAft>
                <a:spcPts val="700"/>
              </a:spcAft>
              <a:buNone/>
            </a:pPr>
            <a:r>
              <a:rPr sz="1700" b="0">
                <a:solidFill>
                  <a:srgbClr val="000000"/>
                </a:solidFill>
                <a:latin typeface="Arial"/>
              </a:rPr>
              <a:t>If your design only works when someone is watching a screen, you built a visual interface with a motor glued to it.</a:t>
            </a:r>
          </a:p>
        </p:txBody>
      </p:sp>
      <p:pic>
        <p:nvPicPr>
          <p:cNvPr id="4" name="Picture 3" descr="word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5400" b="1">
                <a:solidFill>
                  <a:srgbClr val="FFFFFF"/>
                </a:solidFill>
                <a:latin typeface="Arial"/>
              </a:rPr>
              <a:t>GO AND TOUCH THINGS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0" indent="0" algn="l">
              <a:buNone/>
            </a:pPr>
            <a:r>
              <a:rPr sz="2000" b="0">
                <a:solidFill>
                  <a:srgbClr val="FFFFFF"/>
                </a:solidFill>
                <a:latin typeface="Arial"/>
              </a:rPr>
              <a:t>github.com/gust1527/multimodal-actuator-workshop</a:t>
            </a:r>
          </a:p>
        </p:txBody>
      </p:sp>
      <p:pic>
        <p:nvPicPr>
          <p:cNvPr id="4" name="Picture 3" descr="wordmark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6184900"/>
            <a:ext cx="2070100" cy="529560"/>
          </a:xfrm>
          <a:prstGeom prst="rect">
            <a:avLst/>
          </a:prstGeom>
        </p:spPr>
      </p:pic>
      <p:pic>
        <p:nvPicPr>
          <p:cNvPr id="5" name="Picture 4" descr="seal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6800" y="5969000"/>
            <a:ext cx="713915" cy="711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