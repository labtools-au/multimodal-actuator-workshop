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0:00. Start here, and do not read the slide.</a:t>
            </a:r>
          </a:p>
          <a:p/>
          <a:p>
            <a:r>
              <a:t>Open with the demo, not with talking. Have the coin motor and the solenoid both</a:t>
            </a:r>
          </a:p>
          <a:p>
            <a:r>
              <a:t>wired and running before anyone sits down.</a:t>
            </a:r>
          </a:p>
          <a:p/>
          <a:p>
            <a:r>
              <a:t>Buzz a phone-style notification on the motor. Then send the same message on the</a:t>
            </a:r>
          </a:p>
          <a:p>
            <a:r>
              <a:t>solenoid. Ask which felt more urgent. Let them answer. Nobody needs theory for</a:t>
            </a:r>
          </a:p>
          <a:p>
            <a:r>
              <a:t>that, and it is the argument for the whole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Fifteen seconds. It is a map, not a talk.</a:t>
            </a:r>
          </a:p>
          <a:p/>
          <a:p>
            <a:r>
              <a:t>Useful because half the room arrives expecting a lecture and needs to be told</a:t>
            </a:r>
          </a:p>
          <a:p>
            <a:r>
              <a:t>immediately that this is not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full version out loud, the slide only carries the skeleton:</a:t>
            </a:r>
          </a:p>
          <a:p/>
          <a:p>
            <a:r>
              <a:t>"You can read a datasheet. You have never held one of these. Today you put a</a:t>
            </a:r>
          </a:p>
          <a:p>
            <a:r>
              <a:t>vibration motor against your own wrist, decide it feels cheap, and pick</a:t>
            </a:r>
          </a:p>
          <a:p>
            <a:r>
              <a:t>something else. Better now than in week 46 with the demo three days out."</a:t>
            </a:r>
          </a:p>
          <a:p/>
          <a:p>
            <a:r>
              <a:t>Every year projects end up on the screen and the speaker, and touch gets</a:t>
            </a:r>
          </a:p>
          <a:p>
            <a:r>
              <a:t>designed on paper then dropped. Two minutes, then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shape clearly, because it is not a lecture and they will wait to be</a:t>
            </a:r>
          </a:p>
          <a:p>
            <a:r>
              <a:t>lectured at.</a:t>
            </a:r>
          </a:p>
          <a:p/>
          <a:p>
            <a:r>
              <a:t>A board each, and they build the circuits themselves from an empty breadboard.</a:t>
            </a:r>
          </a:p>
          <a:p>
            <a:r>
              <a:t>Say that plainly, because a room of computer scientists will assume the</a:t>
            </a:r>
          </a:p>
          <a:p>
            <a:r>
              <a:t>hardware is someone else's problem and wait to be handed a working rig.</a:t>
            </a:r>
          </a:p>
          <a:p/>
          <a:p>
            <a:r>
              <a:t>Two or three stations each, in rising difficulty. Nobody builds all six.</a:t>
            </a:r>
          </a:p>
          <a:p/>
          <a:p>
            <a:r>
              <a:t>The ladder does the teaching: task 00 is two wires, task 04 is one, task 05</a:t>
            </a:r>
          </a:p>
          <a:p>
            <a:r>
              <a:t>joins them, and only then does task 01 introduce a transistor. By the time</a:t>
            </a:r>
          </a:p>
          <a:p>
            <a:r>
              <a:t>they meet a driver circuit they have already had three things work, which is</a:t>
            </a:r>
          </a:p>
          <a:p>
            <a:r>
              <a:t>what makes them willing to debug the fourth.</a:t>
            </a:r>
          </a:p>
          <a:p/>
          <a:p>
            <a:r>
              <a:t>The actuators they are NOT building sit on tables at the front. Tell them</a:t>
            </a:r>
          </a:p>
          <a:p>
            <a:r>
              <a:t>explicitly to go and pick those up between builds.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it, do not narrate it. Fifteen seconds.</a:t>
            </a:r>
          </a:p>
          <a:p/>
          <a:p>
            <a:r>
              <a:t>Two hard checkpoints. At 0:20 every single person should have a piezo ticking,</a:t>
            </a:r>
          </a:p>
          <a:p>
            <a:r>
              <a:t>because that is two wires and if it is not working the problem is the board or</a:t>
            </a:r>
          </a:p>
          <a:p>
            <a:r>
              <a:t>the IDE, not the circuit. Fix those before anyone meets a transistor.</a:t>
            </a:r>
          </a:p>
          <a:p/>
          <a:p>
            <a:r>
              <a:t>At 0:40 most people should have task 01 buzzing. If someone is still fighting</a:t>
            </a:r>
          </a:p>
          <a:p>
            <a:r>
              <a:t>it, pair them with a working group rather than leaving them to debug alone.</a:t>
            </a:r>
          </a:p>
          <a:p/>
          <a:p>
            <a:r>
              <a:t>Walk the room during the 45 minute block. Look for reversed diodes and</a:t>
            </a:r>
          </a:p>
          <a:p>
            <a:r>
              <a:t>transistors in backwards; both fail silently and neither is guessable.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Ninety seconds on this slide, no more.</a:t>
            </a:r>
          </a:p>
          <a:p/>
          <a:p>
            <a:r>
              <a:t>Read it as a ladder, because that is what it is. The top three need no</a:t>
            </a:r>
          </a:p>
          <a:p>
            <a:r>
              <a:t>transistor at all: piezo, foil pad, then the two joined together. That is a</a:t>
            </a:r>
          </a:p>
          <a:p>
            <a:r>
              <a:t>complete sense-and-respond loop built from three wires, and they can have it</a:t>
            </a:r>
          </a:p>
          <a:p>
            <a:r>
              <a:t>working inside twenty minutes.</a:t>
            </a:r>
          </a:p>
          <a:p/>
          <a:p>
            <a:r>
              <a:t>The bottom three each add exactly one new idea. Task 01 adds a transistor and</a:t>
            </a:r>
          </a:p>
          <a:p>
            <a:r>
              <a:t>a flyback diode, because a motor draws 100 mA and a pin gives 40. Task 02 adds</a:t>
            </a:r>
          </a:p>
          <a:p>
            <a:r>
              <a:t>a separate supply. Task 03 adds an H-bridge for direction.</a:t>
            </a:r>
          </a:p>
          <a:p/>
          <a:p>
            <a:r>
              <a:t>Say clearly that nobody is expected to do all six, and that two done properly</a:t>
            </a:r>
          </a:p>
          <a:p>
            <a:r>
              <a:t>beats five rushed.</a:t>
            </a:r>
          </a:p>
          <a:p/>
          <a:p>
            <a:r>
              <a:t>Task 05's last experiment IS the closing brief, so the work carries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format once here rather than repeating it per task.</a:t>
            </a:r>
          </a:p>
          <a:p/>
          <a:p>
            <a:r>
              <a:t>PINS at the very top: every leg and every wire. That block is what they build</a:t>
            </a:r>
          </a:p>
          <a:p>
            <a:r>
              <a:t>from, and it is why nobody needs a schematic. Point at it explicitly.</a:t>
            </a:r>
          </a:p>
          <a:p/>
          <a:p>
            <a:r>
              <a:t>CHANGE ME below that: two or three numbers, already set to something that</a:t>
            </a:r>
          </a:p>
          <a:p>
            <a:r>
              <a:t>works. THINGS TO TRY at the bottom: four experiments, easy to hard, and the</a:t>
            </a:r>
          </a:p>
          <a:p>
            <a:r>
              <a:t>last one usually asks for a rewrite rather than a tweak.</a:t>
            </a:r>
          </a:p>
          <a:p/>
          <a:p>
            <a:r>
              <a:t>Upload problems, in the order they will hit you:</a:t>
            </a:r>
          </a:p>
          <a:p>
            <a:r>
              <a:t>  * wrong board or port under Tools</a:t>
            </a:r>
          </a:p>
          <a:p>
            <a:r>
              <a:t>  * ADCTouch not installed (tasks 04 and 05)</a:t>
            </a:r>
          </a:p>
          <a:p>
            <a:r>
              <a:t>  * solenoid task: board resets when it fires means its supply is off</a:t>
            </a:r>
          </a:p>
          <a:p/>
          <a:p>
            <a:r>
              <a:t>Write the repo URL on the whiteboard now. It gets asked for six times.</a:t>
            </a:r>
          </a:p>
          <a:p/>
          <a:p>
            <a:r>
              <a:t>If a task's hardware fails, utils/ has the diagnostics: pin_sweep, i2c_scanner,</a:t>
            </a:r>
          </a:p>
          <a:p>
            <a:r>
              <a:t>analog_monitor.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Reference, not a talking point. Ten seconds, or skip it entirely if the</a:t>
            </a:r>
          </a:p>
          <a:p>
            <a:r>
              <a:t>stations are already built.</a:t>
            </a:r>
          </a:p>
          <a:p/>
          <a:p>
            <a:r>
              <a:t>It earns its place two ways: you use it while setting the room up, and it is</a:t>
            </a:r>
          </a:p>
          <a:p>
            <a:r>
              <a:t>the slide to jump back to when someone asks "which pin was the solenoid".</a:t>
            </a:r>
          </a:p>
          <a:p/>
          <a:p>
            <a:r>
              <a:t>The bottom line is the one worth reading aloud if anyone touches the stepper:</a:t>
            </a:r>
          </a:p>
          <a:p>
            <a:r>
              <a:t>the pins go into the constructor OUT of order, 8, 10, 9, 11. Wired in numeric</a:t>
            </a:r>
          </a:p>
          <a:p>
            <a:r>
              <a:t>order it buzzes instead of turning and looks like a dead motor.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this out before anything else, or you will spend the session</a:t>
            </a:r>
          </a:p>
          <a:p>
            <a:r>
              <a:t>fetching parts one at a time.</a:t>
            </a:r>
          </a:p>
          <a:p/>
          <a:p>
            <a:r>
              <a:t>One set per pair. The three drawer numbers are the ones people actually come</a:t>
            </a:r>
          </a:p>
          <a:p>
            <a:r>
              <a:t>back and ask for: 8A breadboard supply, 2C H-bridge, 11F amplifier.</a:t>
            </a:r>
          </a:p>
          <a:p/>
          <a:p>
            <a:r>
              <a:t>Jumper wires, breadboards and resistors are not tracked in the component</a:t>
            </a:r>
          </a:p>
          <a:p>
            <a:r>
              <a:t>database, so make sure there are enough on the tables before students</a:t>
            </a:r>
          </a:p>
          <a:p>
            <a:r>
              <a:t>arrive.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everybody already owns without knowing it. Every phone has one.</a:t>
            </a:r>
          </a:p>
          <a:p/>
          <a:p>
            <a:r>
              <a:t>The point worth making: speed and strength are welded together. That single</a:t>
            </a:r>
          </a:p>
          <a:p>
            <a:r>
              <a:t>constraint is why the other five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escape from the coin motor's compromise. A crystal that flexes when</a:t>
            </a:r>
          </a:p>
          <a:p>
            <a:r>
              <a:t>you put current across it: near-instant, almost no power, but shallow.</a:t>
            </a:r>
          </a:p>
          <a:p/>
          <a:p>
            <a:r>
              <a:t>A tick, not a thump. Point anyone here who needs something to feel responsive</a:t>
            </a:r>
          </a:p>
          <a:p>
            <a:r>
              <a:t>rather than just present. 69 in the drawer, so nobody has to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 this one around if you can. It is the one people remember, because a</a:t>
            </a:r>
          </a:p>
          <a:p>
            <a:r>
              <a:t>knock reads as a person rather than a machine.</a:t>
            </a:r>
          </a:p>
          <a:p/>
          <a:p>
            <a:r>
              <a:t>Warn them now that it needs its own supply, so it does not come as a surprise</a:t>
            </a:r>
          </a:p>
          <a:p>
            <a:r>
              <a:t>at task 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up a wire and a piece of foil. That is genuinely the whole sensor.</a:t>
            </a:r>
          </a:p>
          <a:p/>
          <a:p>
            <a:r>
              <a:t>This is the slide that changes what people think is possible, because it costs</a:t>
            </a:r>
          </a:p>
          <a:p>
            <a:r>
              <a:t>nothing and hides completely inside a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honest limitation out loud: it is slow, and hot alternating with</a:t>
            </a:r>
          </a:p>
          <a:p>
            <a:r>
              <a:t>cold just reads as lukewarm.</a:t>
            </a:r>
          </a:p>
          <a:p/>
          <a:p>
            <a:r>
              <a:t>Good for slow ambient state. Wrong for alerts. Saying so here saves a project</a:t>
            </a:r>
          </a:p>
          <a:p>
            <a:r>
              <a:t>from finding out in week 46.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redundancy argument. Same driver, one frequency you feel and one you</a:t>
            </a:r>
          </a:p>
          <a:p>
            <a:r>
              <a:t>hear.</a:t>
            </a:r>
          </a:p>
          <a:p/>
          <a:p>
            <a:r>
              <a:t>Together is not louder, it is more certain. Cheapest reliability a project can</a:t>
            </a:r>
          </a:p>
          <a:p>
            <a:r>
              <a:t>buy, and it is also the accessibility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showing even though it is not in a task. Most projects that need</a:t>
            </a:r>
          </a:p>
          <a:p>
            <a:r>
              <a:t>something to physically move end up here rather than on a vibration motor.</a:t>
            </a:r>
          </a:p>
          <a:p/>
          <a:p>
            <a:r>
              <a:t>80 in stock, so nobody has to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precision option. Moves in known steps, so you can position it</a:t>
            </a:r>
          </a:p>
          <a:p>
            <a:r>
              <a:t>without any feedback sensor at all. 2048 steps per revolution.</a:t>
            </a:r>
          </a:p>
          <a:p/>
          <a:p>
            <a:r>
              <a:t>Needs a ULN2003 driver board, drawer 2A, 27 of them.</a:t>
            </a:r>
          </a:p>
          <a:p/>
          <a:p>
            <a:r>
              <a:t>If anyone tries one: the Stepper constructor does NOT take the pins in numeric</a:t>
            </a:r>
          </a:p>
          <a:p>
            <a:r>
              <a:t>order. Wire IN1 to IN4 on pins 8 to 11, then write Stepper(2048, 8, 10, 9, 11).</a:t>
            </a:r>
          </a:p>
          <a:p>
            <a:r>
              <a:t>Get it wrong and it buzzes and jitters instead of turning, which looks like a</a:t>
            </a:r>
          </a:p>
          <a:p>
            <a:r>
              <a:t>dead motor. bench_tests/07_stepper has it right, with the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people forget exists. It grabs and lets go, with nothing moving.</a:t>
            </a:r>
          </a:p>
          <a:p/>
          <a:p>
            <a:r>
              <a:t>Good answer for anything that should hold and then release: a latch, a door, a</a:t>
            </a:r>
          </a:p>
          <a:p>
            <a:r>
              <a:t>thing that falls when the event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messages on one slide, and they pull in opposite directions on</a:t>
            </a:r>
          </a:p>
          <a:p>
            <a:r>
              <a:t>purpose. Say the permission warmly, then change tone for the limits.</a:t>
            </a:r>
          </a:p>
          <a:p/>
          <a:p>
            <a:r>
              <a:t>Permission first: some students will not believe they are allowed to skip</a:t>
            </a:r>
          </a:p>
          <a:p>
            <a:r>
              <a:t>ahead or stop early unless told. The failure mode is a pair rushing all five</a:t>
            </a:r>
          </a:p>
          <a:p>
            <a:r>
              <a:t>badly instead of doing two properly.</a:t>
            </a:r>
          </a:p>
          <a:p/>
          <a:p>
            <a:r>
              <a:t>Then the three hard limits, and here you should sound firm. Say the numbers</a:t>
            </a:r>
          </a:p>
          <a:p>
            <a:r>
              <a:t>out loud: a pin gives 40 mA, the motor wants about 75. It is not a rule they</a:t>
            </a:r>
          </a:p>
          <a:p>
            <a:r>
              <a:t>have to take on faith.</a:t>
            </a:r>
          </a:p>
          <a:p/>
          <a:p>
            <a:r>
              <a:t>Worth adding: a board resetting when the solenoid fires is a POWER problem,</a:t>
            </a:r>
          </a:p>
          <a:p>
            <a:r>
              <a:t>not a code bug. That saves someone twenty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down here. This is the single idea most worth stealing from today, and</a:t>
            </a:r>
          </a:p>
          <a:p>
            <a:r>
              <a:t>it is worth interrupting the room for once most people have reached task 04.</a:t>
            </a:r>
          </a:p>
          <a:p/>
          <a:p>
            <a:r>
              <a:t>Two things students get wrong:</a:t>
            </a:r>
          </a:p>
          <a:p/>
          <a:p>
            <a:r>
              <a:t>1. A fixed threshold. Works in the morning, fails after lunch, because the</a:t>
            </a:r>
          </a:p>
          <a:p>
            <a:r>
              <a:t>   reading drifts with humidity and mains hum.</a:t>
            </a:r>
          </a:p>
          <a:p/>
          <a:p>
            <a:r>
              <a:t>2. Feeding the baseline buffer always. A long press then teaches the baseline</a:t>
            </a:r>
          </a:p>
          <a:p>
            <a:r>
              <a:t>   that a finger is normal, and the touch silently stops working. The buffer</a:t>
            </a:r>
          </a:p>
          <a:p>
            <a:r>
              <a:t>   must only learn while untouched.</a:t>
            </a:r>
          </a:p>
          <a:p/>
          <a:p>
            <a:r>
              <a:t>Put the Serial Plotter on the projector. Watching the baseline wander while the</a:t>
            </a:r>
          </a:p>
          <a:p>
            <a:r>
              <a:t>trigger line tracks it explains the whole design in ten seconds.</a:t>
            </a:r>
          </a:p>
          <a:p/>
          <a:p>
            <a:r>
              <a:t>For what it is worth, the rig this came from went through the same tuning: an</a:t>
            </a:r>
          </a:p>
          <a:p>
            <a:r>
              <a:t>earlier version used 1.008 with a 50-sample baseline, the final one 1.01 with</a:t>
            </a:r>
          </a:p>
          <a:p>
            <a:r>
              <a:t>25. Everyone tunes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1:25. Pull the room back together.</a:t>
            </a:r>
          </a:p>
          <a:p/>
          <a:p>
            <a:r>
              <a:t>One sentence per group: what surprised you. No slides, no laptops. Ten minutes.</a:t>
            </a:r>
          </a:p>
          <a:p/>
          <a:p>
            <a:r>
              <a:t>Expect someone to report the Peltier delay. Let that land, it is far more</a:t>
            </a:r>
          </a:p>
          <a:p>
            <a:r>
              <a:t>persuasive from a peer than from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Mention, do not teach. These sit on one table with a sign.</a:t>
            </a:r>
          </a:p>
          <a:p/>
          <a:p>
            <a:r>
              <a:t>The honest warnings matter more than the specs: PPG is useless once the hand</a:t>
            </a:r>
          </a:p>
          <a:p>
            <a:r>
              <a:t>moves, GSR drifts so only relative change works, FSRs need per-pad calibration.</a:t>
            </a:r>
          </a:p>
          <a:p/>
          <a:p>
            <a:r>
              <a:t>Push the phone option hard. For a lot of projects it beats everything else on</a:t>
            </a:r>
          </a:p>
          <a:p>
            <a:r>
              <a:t>the table and needs no soldering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that earns the room's attention, so do not rush it.</a:t>
            </a:r>
          </a:p>
          <a:p/>
          <a:p>
            <a:r>
              <a:t>This audience can write the code already, and they know it. Saying so out loud</a:t>
            </a:r>
          </a:p>
          <a:p>
            <a:r>
              <a:t>buys credibility for the rest. The argument is not "you need to learn to</a:t>
            </a:r>
          </a:p>
          <a:p>
            <a:r>
              <a:t>program a motor", it is "you cannot Google what something feels like".</a:t>
            </a:r>
          </a:p>
          <a:p/>
          <a:p>
            <a:r>
              <a:t>The second point is practical and lands with everyone: the parts are free and</a:t>
            </a:r>
          </a:p>
          <a:p>
            <a:r>
              <a:t>already in the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the tinkerers will care most about, and the one where being</a:t>
            </a:r>
          </a:p>
          <a:p>
            <a:r>
              <a:t>precise matters, because the internet is full of wrong answers.</a:t>
            </a:r>
          </a:p>
          <a:p/>
          <a:p>
            <a:r>
              <a:t>The useful surprise: most Garmin watches broadcast heart rate over BLE</a:t>
            </a:r>
          </a:p>
          <a:p>
            <a:r>
              <a:t>natively. Turn on Broadcast Heart Rate, or start a Virtual Run, and the watch</a:t>
            </a:r>
          </a:p>
          <a:p>
            <a:r>
              <a:t>appears as an ordinary heart rate strap that Web Bluetooth can read from a web</a:t>
            </a:r>
          </a:p>
          <a:p>
            <a:r>
              <a:t>page. No Connect IQ app, no SDK, no API key.</a:t>
            </a:r>
          </a:p>
          <a:p/>
          <a:p>
            <a:r>
              <a:t>Apple Watch will not. HealthKit needs a companion watchOS app in Swift, so</a:t>
            </a:r>
          </a:p>
          <a:p>
            <a:r>
              <a:t>third-party apps that re-broadcast over BLE are the practical route.</a:t>
            </a:r>
          </a:p>
          <a:p/>
          <a:p>
            <a:r>
              <a:t>Web Bluetooth is Chrome and Edge only. Not Safari, not Firefox. Same lesson as</a:t>
            </a:r>
          </a:p>
          <a:p>
            <a:r>
              <a:t>vibration: check the feature before it goes in a plan.</a:t>
            </a:r>
          </a:p>
          <a:p/>
          <a:p>
            <a:r>
              <a:t>Good project prompt if anyone wants one: a page that pairs with a strap and</a:t>
            </a:r>
          </a:p>
          <a:p>
            <a:r>
              <a:t>drives an actuator from a live pulse. That is an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them open sensors.chomskylab.dk on their own phones while you talk.</a:t>
            </a:r>
          </a:p>
          <a:p>
            <a:r>
              <a:t>The split between what works and what does not lands far harder on their own</a:t>
            </a:r>
          </a:p>
          <a:p>
            <a:r>
              <a:t>device than on a slide.</a:t>
            </a:r>
          </a:p>
          <a:p/>
          <a:p>
            <a:r>
              <a:t>The bottom half is the single most useful fact here, and the one people get</a:t>
            </a:r>
          </a:p>
          <a:p>
            <a:r>
              <a:t>wrong because a blog post said otherwise.</a:t>
            </a:r>
          </a:p>
          <a:p/>
          <a:p>
            <a:r>
              <a:t>Say it plainly: iPhones do not vibrate from a web page. Not with a polyfill,</a:t>
            </a:r>
          </a:p>
          <a:p>
            <a:r>
              <a:t>not with a library, not in Chrome for iOS, which is Safari underneath.</a:t>
            </a:r>
          </a:p>
          <a:p/>
          <a:p>
            <a:r>
              <a:t>The general lesson is bigger than vibration: check the feature on caniuse</a:t>
            </a:r>
          </a:p>
          <a:p>
            <a:r>
              <a:t>before it goes in a project plan, not after. Two minutes now against a</a:t>
            </a:r>
          </a:p>
          <a:p>
            <a:r>
              <a:t>rewrite in week 46.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minutes, and put the actual repos on screen if you can.</a:t>
            </a:r>
          </a:p>
          <a:p/>
          <a:p>
            <a:r>
              <a:t>The argument: this was built by students at your stage, not by a lab with a</a:t>
            </a:r>
          </a:p>
          <a:p>
            <a:r>
              <a:t>budget. The gap between "we should use touch" and "it moves when you touch it"</a:t>
            </a:r>
          </a:p>
          <a:p>
            <a:r>
              <a:t>is smaller than it looks.</a:t>
            </a:r>
          </a:p>
          <a:p/>
          <a:p>
            <a:r>
              <a:t>The moving screen has a browser control panel over the serial port, which is</a:t>
            </a:r>
          </a:p>
          <a:p>
            <a:r>
              <a:t>what you will wish you had at the project demonstrations.</a:t>
            </a:r>
          </a:p>
          <a:p/>
          <a:p>
            <a:r>
              <a:t>Note for you: the sock repo has a hardcoded Wi-Fi password and live patient IDs</a:t>
            </a:r>
          </a:p>
          <a:p>
            <a:r>
              <a:t>in it. Scrub before showing, or show only the calibration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1:35. The blind test.</a:t>
            </a:r>
          </a:p>
          <a:p/>
          <a:p>
            <a:r>
              <a:t>Most groups will already have something from task 05. This is where it gets</a:t>
            </a:r>
          </a:p>
          <a:p>
            <a:r>
              <a:t>tested by someone who did not build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brief out once, then get out of the way. Full wording, since the</a:t>
            </a:r>
          </a:p>
          <a:p>
            <a:r>
              <a:t>slide is only the bones:</a:t>
            </a:r>
          </a:p>
          <a:p/>
          <a:p>
            <a:r>
              <a:t>"Pick one actuator. Encode three messages: arrived, something wrong, finished.</a:t>
            </a:r>
          </a:p>
          <a:p>
            <a:r>
              <a:t>Vary only the rhythm of the pulses and how strong they are. Then hand it to</a:t>
            </a:r>
          </a:p>
          <a:p>
            <a:r>
              <a:t>another group with the screen turned away and see if they can name all three."</a:t>
            </a:r>
          </a:p>
          <a:p/>
          <a:p>
            <a:r>
              <a:t>If someone asks to add a second actuator, say no. The constraint is the</a:t>
            </a:r>
          </a:p>
          <a:p>
            <a:r>
              <a:t>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line worth repeating twice.</a:t>
            </a:r>
          </a:p>
          <a:p/>
          <a:p>
            <a:r>
              <a:t>Run the test: swap groups, receiver looks away, guess all three.</a:t>
            </a:r>
          </a:p>
          <a:p/>
          <a:p>
            <a:r>
              <a:t>Then have each group name which two got confused and what would have separated</a:t>
            </a:r>
          </a:p>
          <a:p>
            <a:r>
              <a:t>them. That confusion is the actual learning, not the successful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Put this up while the blind tests run, so groups can check themselves</a:t>
            </a:r>
          </a:p>
          <a:p>
            <a:r>
              <a:t>without asking you.</a:t>
            </a:r>
          </a:p>
          <a:p/>
          <a:p>
            <a:r>
              <a:t>The middle line matters most: a device that fires continuously when held is</a:t>
            </a:r>
          </a:p>
          <a:p>
            <a:r>
              <a:t>the single most common bug, and it is a debounce problem.</a:t>
            </a:r>
          </a:p>
          <a:p/>
          <a:p>
            <a:r>
              <a:t>Then close on the bottom half, thirty seconds. If they leave with one thing,</a:t>
            </a:r>
          </a:p>
          <a:p>
            <a:r>
              <a:t>make it the last point: pick the actuator before designing the interaction.</a:t>
            </a:r>
          </a:p>
          <a:p>
            <a:r>
              <a:t>Discovering in week 46 that the chosen one cannot do the job is the expensive</a:t>
            </a:r>
          </a:p>
          <a:p>
            <a:r>
              <a:t>mistake this session exists to prevent.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them at the repo. Every task sketch is commented for them, and the</a:t>
            </a:r>
          </a:p>
          <a:p>
            <a:r>
              <a:t>bench test sketches are there too if they want to see the minimal version.</a:t>
            </a:r>
          </a:p>
          <a:p/>
          <a:p>
            <a:r>
              <a:t>Last thing to say: pick your actuator before you design the interaction, not</a:t>
            </a:r>
          </a:p>
          <a:p>
            <a:r>
              <a:t>after. Today was so they can do that from experience rather than a datasheet.</a:t>
            </a:r>
          </a:p>
          <a:p/>
          <a:p>
            <a:r>
              <a:t>Pack down: everything back in the box, including the resistors. It will not all</a:t>
            </a:r>
          </a:p>
          <a:p>
            <a:r>
              <a:t>come back.</a:t>
            </a:r>
          </a:p>
          <a:p/>
          <a:p>
            <a:r>
              <a:t>If anyone wants to borrow parts for the project weeks, now is when they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2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>
            <a:spLocks noGrp="1"/>
          </p:cNvSpPr>
          <p:nvPr>
            <p:ph type="ctrTitle" idx="0"/>
          </p:nvPr>
        </p:nvSpPr>
        <p:spPr>
          <a:xfrm>
            <a:off x="914400" y="2540000"/>
            <a:ext cx="10414000" cy="1524000"/>
          </a:xfrm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98000"/>
              </a:lnSpc>
              <a:defRPr sz="5400" b="1">
                <a:solidFill>
                  <a:srgbClr val="FFFFFF"/>
                </a:solidFill>
                <a:latin typeface="Arial"/>
              </a:defRPr>
            </a:pPr>
            <a:endParaRPr/>
          </a:p>
        </p:txBody>
      </p:sp>
      <p:sp>
        <p:nvSpPr>
          <p:cNvPr id="101" name="Subtitle"/>
          <p:cNvSpPr>
            <a:spLocks noGrp="1"/>
          </p:cNvSpPr>
          <p:nvPr>
            <p:ph type="subTitle" idx="1"/>
          </p:nvPr>
        </p:nvSpPr>
        <p:spPr>
          <a:xfrm>
            <a:off x="914400" y="4191000"/>
            <a:ext cx="9652000" cy="762000"/>
          </a:xfrm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28000"/>
              </a:lnSpc>
              <a:defRPr sz="2000" b="0">
                <a:solidFill>
                  <a:srgbClr val="FFFFFF"/>
                </a:solidFill>
                <a:latin typeface="Arial"/>
              </a:defRPr>
            </a:pPr>
            <a:endParaRPr/>
          </a:p>
        </p:txBody>
      </p:sp>
      <p:pic>
        <p:nvPicPr>
          <p:cNvPr id="2" name="Picture 1" descr="wordmark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3" name="Picture 2" descr="seal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624840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700" b="0">
                <a:solidFill>
                  <a:srgbClr val="FFFFFF"/>
                </a:solidFill>
                <a:latin typeface="Arial"/>
              </a:rPr>
              <a:t>MULTIMODAL INTERACTION</a:t>
            </a:r>
          </a:p>
          <a:p>
            <a:pPr>
              <a:lnSpc>
                <a:spcPct val="115000"/>
              </a:lnSpc>
            </a:pPr>
            <a:r>
              <a:rPr sz="700" b="0">
                <a:solidFill>
                  <a:srgbClr val="FFFFFF"/>
                </a:solidFill>
                <a:latin typeface="Arial"/>
              </a:rPr>
              <a:t>PROTOTYPING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0" y="6248400"/>
            <a:ext cx="2794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700" b="0">
                <a:solidFill>
                  <a:srgbClr val="FFFFFF"/>
                </a:solidFill>
                <a:latin typeface="Arial"/>
              </a:rPr>
              <a:t>GUSTAV SIMONSEN</a:t>
            </a:r>
          </a:p>
          <a:p>
            <a:pPr>
              <a:lnSpc>
                <a:spcPct val="115000"/>
              </a:lnSpc>
            </a:pPr>
            <a:r>
              <a:rPr sz="700" b="0">
                <a:solidFill>
                  <a:srgbClr val="FFFFFF"/>
                </a:solidFill>
                <a:latin typeface="Arial"/>
              </a:rPr>
              <a:t>TEACHING ASSISTANT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>
            <a:spLocks noGrp="1"/>
          </p:cNvSpPr>
          <p:nvPr>
            <p:ph type="title" idx="0"/>
          </p:nvPr>
        </p:nvSpPr>
        <p:spPr>
          <a:xfrm>
            <a:off x="914400" y="736600"/>
            <a:ext cx="10541000" cy="711200"/>
          </a:xfrm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98000"/>
              </a:lnSpc>
              <a:defRPr sz="3200" b="1">
                <a:solidFill>
                  <a:srgbClr val="000000"/>
                </a:solidFill>
                <a:latin typeface="Arial"/>
              </a:defRPr>
            </a:pPr>
            <a:endParaRPr/>
          </a:p>
        </p:txBody>
      </p:sp>
      <p:sp>
        <p:nvSpPr>
          <p:cNvPr id="101" name="Body"/>
          <p:cNvSpPr>
            <a:spLocks noGrp="1"/>
          </p:cNvSpPr>
          <p:nvPr>
            <p:ph type="body" idx="1"/>
          </p:nvPr>
        </p:nvSpPr>
        <p:spPr>
          <a:xfrm>
            <a:off x="914400" y="1905000"/>
            <a:ext cx="10033000" cy="3937000"/>
          </a:xfrm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28000"/>
              </a:lnSpc>
              <a:defRPr sz="1700" b="0">
                <a:solidFill>
                  <a:srgbClr val="000000"/>
                </a:solidFill>
                <a:latin typeface="Arial"/>
              </a:defRPr>
            </a:pPr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914400" y="1498600"/>
            <a:ext cx="5842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ordmark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4" name="Picture 3" descr="seal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624840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MULTIMODAL INTERACTION</a:t>
            </a:r>
          </a:p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PROTOTYPING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0" y="6248400"/>
            <a:ext cx="2794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GUSTAV SIMONSEN</a:t>
            </a:r>
          </a:p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TEACHING ASSISTANT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ction Title"/>
          <p:cNvSpPr>
            <a:spLocks noGrp="1"/>
          </p:cNvSpPr>
          <p:nvPr>
            <p:ph type="title" idx="0"/>
          </p:nvPr>
        </p:nvSpPr>
        <p:spPr>
          <a:xfrm>
            <a:off x="914400" y="2921000"/>
            <a:ext cx="10414000" cy="1651000"/>
          </a:xfrm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98000"/>
              </a:lnSpc>
              <a:defRPr sz="4400" b="1">
                <a:solidFill>
                  <a:srgbClr val="000000"/>
                </a:solidFill>
                <a:latin typeface="Arial"/>
              </a:defRPr>
            </a:pPr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914400" y="1651000"/>
            <a:ext cx="5842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ordmark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4" name="Picture 3" descr="seal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624840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MULTIMODAL INTERACTION</a:t>
            </a:r>
          </a:p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PROTOTYPING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0" y="6248400"/>
            <a:ext cx="2794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GUSTAV SIMONSEN</a:t>
            </a:r>
          </a:p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TEACHING ASSISTANT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ench Title"/>
          <p:cNvSpPr>
            <a:spLocks noGrp="1"/>
          </p:cNvSpPr>
          <p:nvPr>
            <p:ph type="title" idx="0"/>
          </p:nvPr>
        </p:nvSpPr>
        <p:spPr>
          <a:xfrm>
            <a:off x="914400" y="736600"/>
            <a:ext cx="7620000" cy="762000"/>
          </a:xfrm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98000"/>
              </a:lnSpc>
              <a:defRPr sz="3000" b="1">
                <a:solidFill>
                  <a:srgbClr val="000000"/>
                </a:solidFill>
                <a:latin typeface="Arial"/>
              </a:defRPr>
            </a:pPr>
            <a:endParaRPr/>
          </a:p>
        </p:txBody>
      </p:sp>
      <p:sp>
        <p:nvSpPr>
          <p:cNvPr id="101" name="Bench Description"/>
          <p:cNvSpPr>
            <a:spLocks noGrp="1"/>
          </p:cNvSpPr>
          <p:nvPr>
            <p:ph type="body" idx="1"/>
          </p:nvPr>
        </p:nvSpPr>
        <p:spPr>
          <a:xfrm>
            <a:off x="914400" y="1701800"/>
            <a:ext cx="6604000" cy="3810000"/>
          </a:xfrm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28000"/>
              </a:lnSpc>
              <a:defRPr sz="1600" b="0">
                <a:solidFill>
                  <a:srgbClr val="000000"/>
                </a:solidFill>
                <a:latin typeface="Arial"/>
              </a:defRPr>
            </a:pPr>
            <a:endParaRPr/>
          </a:p>
        </p:txBody>
      </p:sp>
      <p:sp>
        <p:nvSpPr>
          <p:cNvPr id="102" name="Spec Block"/>
          <p:cNvSpPr>
            <a:spLocks noGrp="1"/>
          </p:cNvSpPr>
          <p:nvPr>
            <p:ph type="body" idx="2"/>
          </p:nvPr>
        </p:nvSpPr>
        <p:spPr>
          <a:xfrm>
            <a:off x="8255000" y="2133600"/>
            <a:ext cx="3175000" cy="3048000"/>
          </a:xfrm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2800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914400" y="1498600"/>
            <a:ext cx="5842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ordmark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4" name="Picture 3" descr="seal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624840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MULTIMODAL INTERACTION</a:t>
            </a:r>
          </a:p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PROTOTYPING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0" y="6248400"/>
            <a:ext cx="2794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GUSTAV SIMONSEN</a:t>
            </a:r>
          </a:p>
          <a:p>
            <a:pPr>
              <a:lnSpc>
                <a:spcPct val="115000"/>
              </a:lnSpc>
            </a:pPr>
            <a:r>
              <a:rPr sz="700" b="0">
                <a:solidFill>
                  <a:srgbClr val="000000"/>
                </a:solidFill>
                <a:latin typeface="Arial"/>
              </a:rPr>
              <a:t>TEACHING ASSISTANT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5400" b="1">
                <a:solidFill>
                  <a:srgbClr val="FFFFFF"/>
                </a:solidFill>
                <a:latin typeface="Arial"/>
              </a:rPr>
              <a:t>FEEL BEFORE YOU BUILD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2000" b="0">
                <a:solidFill>
                  <a:srgbClr val="FFFFFF"/>
                </a:solidFill>
                <a:latin typeface="Arial"/>
              </a:rPr>
              <a:t>Hands-on prototyping with actuators  ·  2 hours</a:t>
            </a:r>
          </a:p>
        </p:txBody>
      </p:sp>
      <p:pic>
        <p:nvPicPr>
          <p:cNvPr id="4" name="Picture 3" descr="wordmark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5" name="Picture 4" descr="seal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TLDR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700" b="0">
                <a:solidFill>
                  <a:srgbClr val="595959"/>
                </a:solidFill>
                <a:latin typeface="Arial"/>
              </a:rPr>
              <a:t>Two hours finding out what actuators feel like, and leaving able to drive one from your own code.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0">
                <a:solidFill>
                  <a:srgbClr val="000000"/>
                </a:solidFill>
                <a:latin typeface="Arial"/>
              </a:rPr>
              <a:t>Get a board and run task 01. Something spins.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0">
                <a:solidFill>
                  <a:srgbClr val="000000"/>
                </a:solidFill>
                <a:latin typeface="Arial"/>
              </a:rPr>
              <a:t>Change two numbers, upload again. That loop is the workshop.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0">
                <a:solidFill>
                  <a:srgbClr val="000000"/>
                </a:solidFill>
                <a:latin typeface="Arial"/>
              </a:rPr>
              <a:t>Pick up the actuators you are not driving.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0">
                <a:solidFill>
                  <a:srgbClr val="000000"/>
                </a:solidFill>
                <a:latin typeface="Arial"/>
              </a:rPr>
              <a:t>Work through as many of the five tasks as you get to.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0">
                <a:solidFill>
                  <a:srgbClr val="000000"/>
                </a:solidFill>
                <a:latin typeface="Arial"/>
              </a:rPr>
              <a:t>Build one signal someone else can read without looking.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5" name="Picture 4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WHY WE ARE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700" b="0">
                <a:solidFill>
                  <a:srgbClr val="595959"/>
                </a:solidFill>
                <a:latin typeface="Arial"/>
              </a:rPr>
              <a:t>You can read a datasheet. You have never held one of these.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0">
                <a:solidFill>
                  <a:srgbClr val="000000"/>
                </a:solidFill>
                <a:latin typeface="Arial"/>
              </a:rPr>
              <a:t>Most projects end up on the screen and the speaker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Not because touch was wrong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Because nobody knew the lab has 117 coin motors</a:t>
            </a:r>
          </a:p>
          <a:p>
            <a:pPr marL="0" indent="0" algn="l">
              <a:lnSpc>
                <a:spcPct val="128000"/>
              </a:lnSpc>
              <a:spcAft>
                <a:spcPts val="0"/>
              </a:spcAft>
              <a:buNone/>
            </a:pP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Today: decide it feels cheap, pick something else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Better now than in week 46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5" name="Picture 4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HOW TODAY 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A board each. You build the circuits yourself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Every part, every wire, from an empty breadboard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Two or three stations each, getting harder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Start with two wires. End with a transistor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Actuators are on the tables at the front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Go and feel the ones you did not build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Finish by building one signal someone else can read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5" name="Picture 4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RUN SHEET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28000"/>
              </a:lnSpc>
              <a:spcAft>
                <a:spcPts val="1600"/>
              </a:spcAft>
              <a:buNone/>
            </a:pPr>
            <a:r>
              <a:rPr sz="1500" b="0">
                <a:solidFill>
                  <a:srgbClr val="595959"/>
                </a:solidFill>
                <a:latin typeface="Arial"/>
              </a:rPr>
              <a:t>Times are offsets from the start. The only hard checkpoint is 0:25: everyone has task 01 running.</a:t>
            </a:r>
          </a:p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400" b="0">
                <a:solidFill>
                  <a:srgbClr val="000000"/>
                </a:solidFill>
                <a:latin typeface="Consolas"/>
              </a:rPr>
              <a:t>0:00     10 min    Two motors, same message. Which felt urgent?</a:t>
            </a:r>
          </a:p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400" b="0">
                <a:solidFill>
                  <a:srgbClr val="000000"/>
                </a:solidFill>
                <a:latin typeface="Consolas"/>
              </a:rPr>
              <a:t>0:10     10 min    Breadboards out. Piezo: two wires, everyone</a:t>
            </a:r>
          </a:p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400" b="0">
                <a:solidFill>
                  <a:srgbClr val="000000"/>
                </a:solidFill>
                <a:latin typeface="Consolas"/>
              </a:rPr>
              <a:t>0:20     20 min    Task 01: your first driver circuit, together</a:t>
            </a:r>
          </a:p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400" b="0">
                <a:solidFill>
                  <a:srgbClr val="000000"/>
                </a:solidFill>
                <a:latin typeface="Consolas"/>
              </a:rPr>
              <a:t>0:40     45 min    Build on, at your own pace</a:t>
            </a:r>
          </a:p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400" b="0">
                <a:solidFill>
                  <a:srgbClr val="000000"/>
                </a:solidFill>
                <a:latin typeface="Consolas"/>
              </a:rPr>
              <a:t>1:25     10 min    Round-the-room: what surprised you</a:t>
            </a:r>
          </a:p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400" b="0">
                <a:solidFill>
                  <a:srgbClr val="000000"/>
                </a:solidFill>
                <a:latin typeface="Consolas"/>
              </a:rPr>
              <a:t>1:35     20 min    Blind test on task 05</a:t>
            </a:r>
          </a:p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400" b="0">
                <a:solidFill>
                  <a:srgbClr val="000000"/>
                </a:solidFill>
                <a:latin typeface="Consolas"/>
              </a:rPr>
              <a:t>1:55      5 min    Pack down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5" name="Picture 4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THE TASKS, IN BUILD ORDER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700" b="0">
                <a:solidFill>
                  <a:srgbClr val="595959"/>
                </a:solidFill>
                <a:latin typeface="Arial"/>
              </a:rPr>
              <a:t>Each one adds a single new thing to the circuit before it.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00   Make it tick        piezo             2 wires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04   Make it notice you  wire and foil     1 wire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05   Make it answer      both of the above 3 wires</a:t>
            </a:r>
          </a:p>
          <a:p>
            <a:pPr marL="0" indent="0" algn="l">
              <a:lnSpc>
                <a:spcPct val="128000"/>
              </a:lnSpc>
              <a:spcAft>
                <a:spcPts val="0"/>
              </a:spcAft>
              <a:buNone/>
            </a:pP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07   Make it turn       stepper           6 wires, a trap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01   Make something spin coin motor        + transistor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02   Make something tap  solenoid          + own supply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03   Make something warm Peltier tile      + H-bridge</a:t>
            </a:r>
          </a:p>
          <a:p>
            <a:pPr marL="0" indent="0" algn="l">
              <a:lnSpc>
                <a:spcPct val="128000"/>
              </a:lnSpc>
              <a:spcAft>
                <a:spcPts val="0"/>
              </a:spcAft>
              <a:buNone/>
            </a:pP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0">
                <a:solidFill>
                  <a:srgbClr val="000000"/>
                </a:solidFill>
                <a:latin typeface="Arial"/>
              </a:rPr>
              <a:t>Two or three each. Nobody does all of them.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5" name="Picture 4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HOW THE TASK SKETCHES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700" b="0">
                <a:solidFill>
                  <a:srgbClr val="595959"/>
                </a:solidFill>
                <a:latin typeface="Arial"/>
              </a:rPr>
              <a:t>Wire it from the diagram at the top, then upload. All of them: github.com/labtools-au/multimodal-actuator-workshop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A PINS block at the very top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Every leg, every wire. Build from that, not from memory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A CHANGE ME block below it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Two or three numbers. Edit, upload, feel the difference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A THINGS TO TRY list at the bottom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Four experiments. The last is the interesting one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5" name="Picture 4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PIN 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28000"/>
              </a:lnSpc>
              <a:spcAft>
                <a:spcPts val="700"/>
              </a:spcAft>
              <a:buNone/>
            </a:pPr>
            <a:r>
              <a:rPr sz="1300">
                <a:solidFill>
                  <a:srgbClr val="000000"/>
                </a:solidFill>
                <a:latin typeface="Consolas"/>
              </a:rPr>
              <a:t>01  spin    D9  PWM         1k to PN2222 base, motor on collector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sz="1300">
                <a:solidFill>
                  <a:srgbClr val="000000"/>
                </a:solidFill>
                <a:latin typeface="Consolas"/>
              </a:rPr>
              <a:t>02  tap     D6              MOSFET gate, own supply, grounds joined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sz="1300">
                <a:solidFill>
                  <a:srgbClr val="000000"/>
                </a:solidFill>
                <a:latin typeface="Consolas"/>
              </a:rPr>
              <a:t>03  warm    D3 + D5 PWM     H-bridge low and high, bench supply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sz="1300">
                <a:solidFill>
                  <a:srgbClr val="000000"/>
                </a:solidFill>
                <a:latin typeface="Consolas"/>
              </a:rPr>
              <a:t>04  sense   A0              bare wire to foil. That is all of it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sz="1300">
                <a:solidFill>
                  <a:srgbClr val="000000"/>
                </a:solidFill>
                <a:latin typeface="Consolas"/>
              </a:rPr>
              <a:t>05  answer  A0 + D9         the pad, plus any actuator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sz="1300">
                <a:solidFill>
                  <a:srgbClr val="000000"/>
                </a:solidFill>
                <a:latin typeface="Consolas"/>
              </a:rPr>
              <a:t>07  stepper D8 D9 D10 D11   ULN2003 IN1 to IN4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400" b="1">
                <a:solidFill>
                  <a:srgbClr val="002546"/>
                </a:solidFill>
                <a:latin typeface="Arial"/>
              </a:rPr>
              <a:t>Only D3, D5, D6, D9, D10, D11 do PWM. Stepper pins go into the constructor OUT of order: 8, 10, 9, 11.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5" name="Picture 4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WHAT YOU GET IN THE BASE KIT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700" b="0">
                <a:solidFill>
                  <a:srgbClr val="595959"/>
                </a:solidFill>
                <a:latin typeface="Arial"/>
              </a:rPr>
              <a:t>One set per pair, collected before you start task 01. Below: the three parts people always come back for.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0">
                <a:solidFill>
                  <a:srgbClr val="000000"/>
                </a:solidFill>
                <a:latin typeface="Arial"/>
              </a:rPr>
              <a:t>Board, breadboard, jumper wires, resistors: on the tables.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0">
                <a:solidFill>
                  <a:srgbClr val="000000"/>
                </a:solidFill>
                <a:latin typeface="Arial"/>
              </a:rPr>
              <a:t>Not in the drawers, so take what you need.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5" name="Picture 4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  <p:pic>
        <p:nvPicPr>
          <p:cNvPr id="6" name="Picture 5" descr="bbpsu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27400"/>
            <a:ext cx="1422400" cy="1422400"/>
          </a:xfrm>
          <a:prstGeom prst="rect">
            <a:avLst/>
          </a:prstGeom>
        </p:spPr>
      </p:pic>
      <p:pic>
        <p:nvPicPr>
          <p:cNvPr id="7" name="Picture 6" descr="hbrid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7200" y="3327400"/>
            <a:ext cx="1422400" cy="1422400"/>
          </a:xfrm>
          <a:prstGeom prst="rect">
            <a:avLst/>
          </a:prstGeom>
        </p:spPr>
      </p:pic>
      <p:pic>
        <p:nvPicPr>
          <p:cNvPr id="8" name="Picture 7" descr="am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0" y="3327400"/>
            <a:ext cx="1422400" cy="142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826000"/>
            <a:ext cx="1905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sz="900">
                <a:solidFill>
                  <a:srgbClr val="595959"/>
                </a:solidFill>
                <a:latin typeface="Arial"/>
              </a:rPr>
              <a:t>Breadboard supply, 8A. Anything past an LED.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7200" y="4826000"/>
            <a:ext cx="1905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sz="900">
                <a:solidFill>
                  <a:srgbClr val="595959"/>
                </a:solidFill>
                <a:latin typeface="Arial"/>
              </a:rPr>
              <a:t>L9110S H-bridge, 2C. Reversing, and the Peltier.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0" y="4826000"/>
            <a:ext cx="1905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sz="900">
                <a:solidFill>
                  <a:srgbClr val="595959"/>
                </a:solidFill>
                <a:latin typeface="Arial"/>
              </a:rPr>
              <a:t>PAM8403 amp, 11F. A transducer needs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VIBRATING MINI MOTOR DISC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1000" y="1905000"/>
            <a:ext cx="5486400" cy="3302000"/>
          </a:xfrm>
        </p:spPr>
        <p:txBody>
          <a:bodyPr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sz="1600" b="0">
                <a:solidFill>
                  <a:srgbClr val="000000"/>
                </a:solidFill>
                <a:latin typeface="Arial"/>
              </a:rPr>
              <a:t>An off-centre weight on a motor shaft, sealed in a disc. The same part as in your phone.</a:t>
            </a:r>
          </a:p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sz="1600" b="1">
                <a:solidFill>
                  <a:srgbClr val="002546"/>
                </a:solidFill>
                <a:latin typeface="Arial"/>
              </a:rPr>
              <a:t>Feels like: a buzz you cannot make gentle and fast at once.</a:t>
            </a:r>
          </a:p>
          <a:p>
            <a:pPr marL="0" indent="0"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900" b="1">
                <a:solidFill>
                  <a:srgbClr val="595959"/>
                </a:solidFill>
                <a:latin typeface="Arial"/>
              </a:rPr>
              <a:t>USED FOR</a:t>
            </a:r>
          </a:p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sz="1400" b="0">
                <a:solidFill>
                  <a:srgbClr val="000000"/>
                </a:solidFill>
                <a:latin typeface="Arial"/>
              </a:rPr>
              <a:t>Phone notifications, controller rumble, anything worn under clothing.</a:t>
            </a:r>
          </a:p>
          <a:p>
            <a:pPr marL="0" indent="0" algn="l">
              <a:lnSpc>
                <a:spcPct val="130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595959"/>
                </a:solidFill>
                <a:latin typeface="Consolas"/>
              </a:rPr>
              <a:t>1E  |  117  |  2.5-3.8V rated  |  100 mA at 5V  |  PWM</a:t>
            </a:r>
          </a:p>
        </p:txBody>
      </p:sp>
      <p:pic>
        <p:nvPicPr>
          <p:cNvPr id="4" name="Picture 3" descr="e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05000"/>
            <a:ext cx="4191000" cy="3145410"/>
          </a:xfrm>
          <a:prstGeom prst="rect">
            <a:avLst/>
          </a:prstGeom>
        </p:spPr>
      </p:pic>
      <p:pic>
        <p:nvPicPr>
          <p:cNvPr id="5" name="Picture 4" descr="wordmark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6" name="Picture 5" descr="seal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PIEZO ELEMENT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1000" y="1905000"/>
            <a:ext cx="5486400" cy="3302000"/>
          </a:xfrm>
        </p:spPr>
        <p:txBody>
          <a:bodyPr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sz="1600" b="0">
                <a:solidFill>
                  <a:srgbClr val="000000"/>
                </a:solidFill>
                <a:latin typeface="Arial"/>
              </a:rPr>
              <a:t>A crystal that flexes when you put current across it. Near-instant, almost no power, but shallow.</a:t>
            </a:r>
          </a:p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sz="1600" b="1">
                <a:solidFill>
                  <a:srgbClr val="002546"/>
                </a:solidFill>
                <a:latin typeface="Arial"/>
              </a:rPr>
              <a:t>Feels like: a tick, not a thump.</a:t>
            </a:r>
          </a:p>
          <a:p>
            <a:pPr marL="0" indent="0"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900" b="1">
                <a:solidFill>
                  <a:srgbClr val="595959"/>
                </a:solidFill>
                <a:latin typeface="Arial"/>
              </a:rPr>
              <a:t>USED FOR</a:t>
            </a:r>
          </a:p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sz="1400" b="0">
                <a:solidFill>
                  <a:srgbClr val="000000"/>
                </a:solidFill>
                <a:latin typeface="Arial"/>
              </a:rPr>
              <a:t>Clicks and confirmations. Anything where lag would feel broken.</a:t>
            </a:r>
          </a:p>
          <a:p>
            <a:pPr marL="0" indent="0" algn="l">
              <a:lnSpc>
                <a:spcPct val="130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595959"/>
                </a:solidFill>
                <a:latin typeface="Consolas"/>
              </a:rPr>
              <a:t>Drawer 6F  |  69 in stock  |  any digital pin</a:t>
            </a:r>
          </a:p>
        </p:txBody>
      </p:sp>
      <p:pic>
        <p:nvPicPr>
          <p:cNvPr id="4" name="Picture 3" descr="piez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05000"/>
            <a:ext cx="3175000" cy="3175000"/>
          </a:xfrm>
          <a:prstGeom prst="rect">
            <a:avLst/>
          </a:prstGeom>
        </p:spPr>
      </p:pic>
      <p:pic>
        <p:nvPicPr>
          <p:cNvPr id="5" name="Picture 4" descr="wordmark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6" name="Picture 5" descr="seal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MINI PUSH-PULL SOLENOID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1000" y="1905000"/>
            <a:ext cx="5486400" cy="3302000"/>
          </a:xfrm>
        </p:spPr>
        <p:txBody>
          <a:bodyPr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sz="1600" b="0">
                <a:solidFill>
                  <a:srgbClr val="000000"/>
                </a:solidFill>
                <a:latin typeface="Arial"/>
              </a:rPr>
              <a:t>A coil that yanks a metal rod when you energise it. No half a tap: it fires or it does not.</a:t>
            </a:r>
          </a:p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sz="1600" b="1">
                <a:solidFill>
                  <a:srgbClr val="002546"/>
                </a:solidFill>
                <a:latin typeface="Arial"/>
              </a:rPr>
              <a:t>Feels like: a person tapping you, not a machine signalling.</a:t>
            </a:r>
          </a:p>
          <a:p>
            <a:pPr marL="0" indent="0"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900" b="1">
                <a:solidFill>
                  <a:srgbClr val="595959"/>
                </a:solidFill>
                <a:latin typeface="Arial"/>
              </a:rPr>
              <a:t>USED FOR</a:t>
            </a:r>
          </a:p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sz="1400" b="0">
                <a:solidFill>
                  <a:srgbClr val="000000"/>
                </a:solidFill>
                <a:latin typeface="Arial"/>
              </a:rPr>
              <a:t>Navigation cues on the body, braille cells, alerts in noise.</a:t>
            </a:r>
          </a:p>
          <a:p>
            <a:pPr marL="0" indent="0" algn="l">
              <a:lnSpc>
                <a:spcPct val="130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595959"/>
                </a:solidFill>
                <a:latin typeface="Consolas"/>
              </a:rPr>
              <a:t>3E  |  24  |  5V, 1.1 A, 4.5 ohm  |  3mm throw, 80g</a:t>
            </a:r>
          </a:p>
        </p:txBody>
      </p:sp>
      <p:pic>
        <p:nvPicPr>
          <p:cNvPr id="4" name="Picture 3" descr="soleno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05000"/>
            <a:ext cx="4191000" cy="3145410"/>
          </a:xfrm>
          <a:prstGeom prst="rect">
            <a:avLst/>
          </a:prstGeom>
        </p:spPr>
      </p:pic>
      <p:pic>
        <p:nvPicPr>
          <p:cNvPr id="5" name="Picture 4" descr="wordmark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6" name="Picture 5" descr="seal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CAPACITIVE PAD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1000" y="1905000"/>
            <a:ext cx="5486400" cy="3302000"/>
          </a:xfrm>
        </p:spPr>
        <p:txBody>
          <a:bodyPr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sz="1600" b="0">
                <a:solidFill>
                  <a:srgbClr val="000000"/>
                </a:solidFill>
                <a:latin typeface="Arial"/>
              </a:rPr>
              <a:t>A wire taped behind foil, card or fabric. No sensor and no breakout board, which is why the box on the left is empty.</a:t>
            </a:r>
          </a:p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sz="1600" b="1">
                <a:solidFill>
                  <a:srgbClr val="002546"/>
                </a:solidFill>
                <a:latin typeface="Arial"/>
              </a:rPr>
              <a:t>Feels like: nothing. That is the point. The surface stays plain.</a:t>
            </a:r>
          </a:p>
          <a:p>
            <a:pPr marL="0" indent="0"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900" b="1">
                <a:solidFill>
                  <a:srgbClr val="595959"/>
                </a:solidFill>
                <a:latin typeface="Arial"/>
              </a:rPr>
              <a:t>USED FOR</a:t>
            </a:r>
          </a:p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sz="1400" b="0">
                <a:solidFill>
                  <a:srgbClr val="000000"/>
                </a:solidFill>
                <a:latin typeface="Arial"/>
              </a:rPr>
              <a:t>Invisible controls in wood or fabric, waterproof panels.</a:t>
            </a:r>
          </a:p>
          <a:p>
            <a:pPr marL="0" indent="0" algn="l">
              <a:lnSpc>
                <a:spcPct val="130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595959"/>
                </a:solidFill>
                <a:latin typeface="Consolas"/>
              </a:rPr>
              <a:t>No drawer, no part number, no cost. Any analogue pin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05000"/>
            <a:ext cx="4191000" cy="3175000"/>
          </a:xfrm>
          <a:prstGeom prst="rect">
            <a:avLst/>
          </a:prstGeom>
          <a:noFill/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900" b="1">
                <a:solidFill>
                  <a:srgbClr val="595959"/>
                </a:solidFill>
                <a:latin typeface="Arial"/>
              </a:rPr>
              <a:t>PHOTO</a:t>
            </a:r>
          </a:p>
          <a:p>
            <a:pPr algn="ctr">
              <a:lnSpc>
                <a:spcPct val="120000"/>
              </a:lnSpc>
            </a:pPr>
            <a:r>
              <a:rPr sz="1100">
                <a:solidFill>
                  <a:srgbClr val="595959"/>
                </a:solidFill>
                <a:latin typeface="Arial"/>
              </a:rPr>
              <a:t>Capacitive pad</a:t>
            </a:r>
          </a:p>
        </p:txBody>
      </p:sp>
      <p:pic>
        <p:nvPicPr>
          <p:cNvPr id="5" name="Picture 4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6" name="Picture 5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PELTIER TILE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1000" y="1905000"/>
            <a:ext cx="5486400" cy="3302000"/>
          </a:xfrm>
        </p:spPr>
        <p:txBody>
          <a:bodyPr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sz="1600" b="0">
                <a:solidFill>
                  <a:srgbClr val="000000"/>
                </a:solidFill>
                <a:latin typeface="Arial"/>
              </a:rPr>
              <a:t>Heats one face and cools the other. Flip the current and it reverses.</a:t>
            </a:r>
          </a:p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sz="1600" b="1">
                <a:solidFill>
                  <a:srgbClr val="002546"/>
                </a:solidFill>
                <a:latin typeface="Arial"/>
              </a:rPr>
              <a:t>Feels like: slow. Several seconds before you are sure which way.</a:t>
            </a:r>
          </a:p>
          <a:p>
            <a:pPr marL="0" indent="0"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900" b="1">
                <a:solidFill>
                  <a:srgbClr val="595959"/>
                </a:solidFill>
                <a:latin typeface="Arial"/>
              </a:rPr>
              <a:t>USED FOR</a:t>
            </a:r>
          </a:p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sz="1400" b="0">
                <a:solidFill>
                  <a:srgbClr val="000000"/>
                </a:solidFill>
                <a:latin typeface="Arial"/>
              </a:rPr>
              <a:t>Slow ambient state. Never an alert.</a:t>
            </a:r>
          </a:p>
          <a:p>
            <a:pPr marL="0" indent="0" algn="l">
              <a:lnSpc>
                <a:spcPct val="130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595959"/>
                </a:solidFill>
                <a:latin typeface="Consolas"/>
              </a:rPr>
              <a:t>Drawer 4C  |  25 small, 35 big  |  needs an H bridge</a:t>
            </a:r>
          </a:p>
        </p:txBody>
      </p:sp>
      <p:pic>
        <p:nvPicPr>
          <p:cNvPr id="4" name="Picture 3" descr="pelti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05000"/>
            <a:ext cx="4191000" cy="3143250"/>
          </a:xfrm>
          <a:prstGeom prst="rect">
            <a:avLst/>
          </a:prstGeom>
        </p:spPr>
      </p:pic>
      <p:pic>
        <p:nvPicPr>
          <p:cNvPr id="5" name="Picture 4" descr="wordmark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6" name="Picture 5" descr="seal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SURFACE TRANSDUCER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1000" y="1905000"/>
            <a:ext cx="5486400" cy="3302000"/>
          </a:xfrm>
        </p:spPr>
        <p:txBody>
          <a:bodyPr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sz="1600" b="0">
                <a:solidFill>
                  <a:srgbClr val="000000"/>
                </a:solidFill>
                <a:latin typeface="Arial"/>
              </a:rPr>
              <a:t>Turns any surface into a speaker. Drive it so one frequency is felt and another is heard, from the same part.</a:t>
            </a:r>
          </a:p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sz="1600" b="1">
                <a:solidFill>
                  <a:srgbClr val="002546"/>
                </a:solidFill>
                <a:latin typeface="Arial"/>
              </a:rPr>
              <a:t>Feels like: more certain, rather than louder.</a:t>
            </a:r>
          </a:p>
          <a:p>
            <a:pPr marL="0" indent="0"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900" b="1">
                <a:solidFill>
                  <a:srgbClr val="595959"/>
                </a:solidFill>
                <a:latin typeface="Arial"/>
              </a:rPr>
              <a:t>USED FOR</a:t>
            </a:r>
          </a:p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sz="1400" b="0">
                <a:solidFill>
                  <a:srgbClr val="000000"/>
                </a:solidFill>
                <a:latin typeface="Arial"/>
              </a:rPr>
              <a:t>Noisy or bright environments, and accessibility.</a:t>
            </a:r>
          </a:p>
          <a:p>
            <a:pPr marL="0" indent="0" algn="l">
              <a:lnSpc>
                <a:spcPct val="130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595959"/>
                </a:solidFill>
                <a:latin typeface="Consolas"/>
              </a:rPr>
              <a:t>Drawer 7F  |  12 large, 13 medium, 23 bone  |  needs an amp</a:t>
            </a:r>
          </a:p>
        </p:txBody>
      </p:sp>
      <p:pic>
        <p:nvPicPr>
          <p:cNvPr id="4" name="Picture 3" descr="transduc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05000"/>
            <a:ext cx="3175000" cy="3175000"/>
          </a:xfrm>
          <a:prstGeom prst="rect">
            <a:avLst/>
          </a:prstGeom>
        </p:spPr>
      </p:pic>
      <p:pic>
        <p:nvPicPr>
          <p:cNvPr id="5" name="Picture 4" descr="wordmark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6" name="Picture 5" descr="seal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SERVO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1000" y="1905000"/>
            <a:ext cx="5486400" cy="3302000"/>
          </a:xfrm>
        </p:spPr>
        <p:txBody>
          <a:bodyPr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sz="1600" b="0">
                <a:solidFill>
                  <a:srgbClr val="000000"/>
                </a:solidFill>
                <a:latin typeface="Arial"/>
              </a:rPr>
              <a:t>A motor that holds a position instead of spinning freely. Tell it an angle and it goes there.</a:t>
            </a:r>
          </a:p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sz="1600" b="1">
                <a:solidFill>
                  <a:srgbClr val="002546"/>
                </a:solidFill>
                <a:latin typeface="Arial"/>
              </a:rPr>
              <a:t>Feels like: something deliberate moving, with force behind it.</a:t>
            </a:r>
          </a:p>
          <a:p>
            <a:pPr marL="0" indent="0"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900" b="1">
                <a:solidFill>
                  <a:srgbClr val="595959"/>
                </a:solidFill>
                <a:latin typeface="Arial"/>
              </a:rPr>
              <a:t>USED FOR</a:t>
            </a:r>
          </a:p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sz="1400" b="0">
                <a:solidFill>
                  <a:srgbClr val="000000"/>
                </a:solidFill>
                <a:latin typeface="Arial"/>
              </a:rPr>
              <a:t>Anything that points, pushes, opens or resists a hand.</a:t>
            </a:r>
          </a:p>
          <a:p>
            <a:pPr marL="0" indent="0" algn="l">
              <a:lnSpc>
                <a:spcPct val="130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595959"/>
                </a:solidFill>
                <a:latin typeface="Consolas"/>
              </a:rPr>
              <a:t>Drawer 2F  |  80 in stock  |  Servo.h  |  needs its own 5V</a:t>
            </a:r>
          </a:p>
        </p:txBody>
      </p:sp>
      <p:pic>
        <p:nvPicPr>
          <p:cNvPr id="4" name="Picture 3" descr="serv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05000"/>
            <a:ext cx="4191000" cy="3145410"/>
          </a:xfrm>
          <a:prstGeom prst="rect">
            <a:avLst/>
          </a:prstGeom>
        </p:spPr>
      </p:pic>
      <p:pic>
        <p:nvPicPr>
          <p:cNvPr id="5" name="Picture 4" descr="wordmark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6" name="Picture 5" descr="seal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STEPPER MOTOR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1000" y="1905000"/>
            <a:ext cx="5486400" cy="3302000"/>
          </a:xfrm>
        </p:spPr>
        <p:txBody>
          <a:bodyPr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sz="1600" b="0">
                <a:solidFill>
                  <a:srgbClr val="000000"/>
                </a:solidFill>
                <a:latin typeface="Arial"/>
              </a:rPr>
              <a:t>Moves in fixed steps rather than continuously, so you always know where it is without a sensor.</a:t>
            </a:r>
          </a:p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sz="1600" b="1">
                <a:solidFill>
                  <a:srgbClr val="002546"/>
                </a:solidFill>
                <a:latin typeface="Arial"/>
              </a:rPr>
              <a:t>Feels like: precise, and audibly clicky.</a:t>
            </a:r>
          </a:p>
          <a:p>
            <a:pPr marL="0" indent="0"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900" b="1">
                <a:solidFill>
                  <a:srgbClr val="595959"/>
                </a:solidFill>
                <a:latin typeface="Arial"/>
              </a:rPr>
              <a:t>USED FOR</a:t>
            </a:r>
          </a:p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sz="1400" b="0">
                <a:solidFill>
                  <a:srgbClr val="000000"/>
                </a:solidFill>
                <a:latin typeface="Arial"/>
              </a:rPr>
              <a:t>Slow accurate motion. Dials, sliders, anything positioned.</a:t>
            </a:r>
          </a:p>
          <a:p>
            <a:pPr marL="0" indent="0" algn="l">
              <a:lnSpc>
                <a:spcPct val="130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595959"/>
                </a:solidFill>
                <a:latin typeface="Consolas"/>
              </a:rPr>
              <a:t>2A  |  44  |  ULN2003 driver  |  2048 steps/rev</a:t>
            </a:r>
          </a:p>
        </p:txBody>
      </p:sp>
      <p:pic>
        <p:nvPicPr>
          <p:cNvPr id="4" name="Picture 3" descr="step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05000"/>
            <a:ext cx="4191000" cy="2280942"/>
          </a:xfrm>
          <a:prstGeom prst="rect">
            <a:avLst/>
          </a:prstGeom>
        </p:spPr>
      </p:pic>
      <p:pic>
        <p:nvPicPr>
          <p:cNvPr id="5" name="Picture 4" descr="wordmark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6" name="Picture 5" descr="seal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ELECTROMAGNET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1000" y="1905000"/>
            <a:ext cx="5486400" cy="3302000"/>
          </a:xfrm>
        </p:spPr>
        <p:txBody>
          <a:bodyPr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sz="1600" b="0">
                <a:solidFill>
                  <a:srgbClr val="000000"/>
                </a:solidFill>
                <a:latin typeface="Arial"/>
              </a:rPr>
              <a:t>Grabs and releases ferrous metal on command. No moving parts of its own.</a:t>
            </a:r>
          </a:p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sz="1600" b="1">
                <a:solidFill>
                  <a:srgbClr val="002546"/>
                </a:solidFill>
                <a:latin typeface="Arial"/>
              </a:rPr>
              <a:t>Feels like: a grip that appears and vanishes.</a:t>
            </a:r>
          </a:p>
          <a:p>
            <a:pPr marL="0" indent="0"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900" b="1">
                <a:solidFill>
                  <a:srgbClr val="595959"/>
                </a:solidFill>
                <a:latin typeface="Arial"/>
              </a:rPr>
              <a:t>USED FOR</a:t>
            </a:r>
          </a:p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sz="1400" b="0">
                <a:solidFill>
                  <a:srgbClr val="000000"/>
                </a:solidFill>
                <a:latin typeface="Arial"/>
              </a:rPr>
              <a:t>Latches, holds, and anything that should let go on cue.</a:t>
            </a:r>
          </a:p>
          <a:p>
            <a:pPr marL="0" indent="0" algn="l">
              <a:lnSpc>
                <a:spcPct val="130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595959"/>
                </a:solidFill>
                <a:latin typeface="Consolas"/>
              </a:rPr>
              <a:t>Drawer 3D  |  17 mini, 11 standard  |  needs a MOSFET</a:t>
            </a:r>
          </a:p>
        </p:txBody>
      </p:sp>
      <p:pic>
        <p:nvPicPr>
          <p:cNvPr id="4" name="Picture 3" descr="electromagn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05000"/>
            <a:ext cx="1784181" cy="3175000"/>
          </a:xfrm>
          <a:prstGeom prst="rect">
            <a:avLst/>
          </a:prstGeom>
        </p:spPr>
      </p:pic>
      <p:pic>
        <p:nvPicPr>
          <p:cNvPr id="5" name="Picture 4" descr="wordmark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6" name="Picture 5" descr="seal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FREESTYLE, WITHIN THREE LIMITS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700" b="0">
                <a:solidFill>
                  <a:srgbClr val="595959"/>
                </a:solidFill>
                <a:latin typeface="Arial"/>
              </a:rPr>
              <a:t>You do not have to do the tasks in order, or finish them. Playing properly with two beats rushing all five.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0">
                <a:solidFill>
                  <a:srgbClr val="000000"/>
                </a:solidFill>
                <a:latin typeface="Arial"/>
              </a:rPr>
              <a:t>If you want to drive something not in front of you, go get it.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The three things that are not negotiable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Solenoid and Peltier get their own supply, never USB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The Peltier heatsink goes on before it is switched on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No motor straight from a pin. 40 mA limit, it wants 75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5" name="Picture 4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THE ONE THAT SURPRISES PEOPLE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700" b="0">
                <a:solidFill>
                  <a:srgbClr val="595959"/>
                </a:solidFill>
                <a:latin typeface="Arial"/>
              </a:rPr>
              <a:t>Touch input for the price of a wire. The thinking is where it costs you.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Threshold is relative, never absolute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Readings drift with humidity and mains hum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Fixed threshold works at 9am, fails at 1pm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Baseline only learns while untouched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Or a long press teaches it that a finger is normal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5" name="Picture 4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4400" b="1">
                <a:solidFill>
                  <a:srgbClr val="000000"/>
                </a:solidFill>
                <a:latin typeface="Arial"/>
              </a:rPr>
              <a:t>INPUTS, AND PRIOR ART</a:t>
            </a:r>
          </a:p>
        </p:txBody>
      </p:sp>
      <p:pic>
        <p:nvPicPr>
          <p:cNvPr id="3" name="Picture 2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4" name="Picture 3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INPUTS WORTH KNOWING ABOUT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700" b="0">
                <a:solidFill>
                  <a:srgbClr val="595959"/>
                </a:solidFill>
                <a:latin typeface="Arial"/>
              </a:rPr>
              <a:t>One table with a sign. Wander over between tasks.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Capacitive touch. A wire. That is task 04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GSR, drawer 0C5. Exactly one in the lab, so ask first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Your own phone. No soldering at all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5" name="Picture 4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  <p:pic>
        <p:nvPicPr>
          <p:cNvPr id="6" name="Picture 5" descr="fs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76600"/>
            <a:ext cx="1895230" cy="1422400"/>
          </a:xfrm>
          <a:prstGeom prst="rect">
            <a:avLst/>
          </a:prstGeom>
        </p:spPr>
      </p:pic>
      <p:pic>
        <p:nvPicPr>
          <p:cNvPr id="7" name="Picture 6" descr="flex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7200" y="3276600"/>
            <a:ext cx="1895230" cy="1422400"/>
          </a:xfrm>
          <a:prstGeom prst="rect">
            <a:avLst/>
          </a:prstGeom>
        </p:spPr>
      </p:pic>
      <p:pic>
        <p:nvPicPr>
          <p:cNvPr id="8" name="Picture 7" descr="puls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0" y="3276600"/>
            <a:ext cx="1422400" cy="142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775200"/>
            <a:ext cx="1905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sz="900">
                <a:solidFill>
                  <a:srgbClr val="595959"/>
                </a:solidFill>
                <a:latin typeface="Arial"/>
              </a:rPr>
              <a:t>Force (FSR), 4A. 46 tiny, 33 square. Calibrate each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7200" y="4775200"/>
            <a:ext cx="1905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sz="900">
                <a:solidFill>
                  <a:srgbClr val="595959"/>
                </a:solidFill>
                <a:latin typeface="Arial"/>
              </a:rPr>
              <a:t>Flex, 4B. Only 8 left, so share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0" y="4775200"/>
            <a:ext cx="1905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sz="900">
                <a:solidFill>
                  <a:srgbClr val="595959"/>
                </a:solidFill>
                <a:latin typeface="Arial"/>
              </a:rPr>
              <a:t>Pulse, 9D. 9 in stock. Steady at rest, useless once moving.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YOU ALREADY WRITE CODE. WHY COME?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700" b="0">
                <a:solidFill>
                  <a:srgbClr val="595959"/>
                </a:solidFill>
                <a:latin typeface="Arial"/>
              </a:rPr>
              <a:t>Fair question. Three honest answers.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You cannot Google what something feels like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No datasheet says a knock reads as a person, a buzz as a machine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The parts are free and already here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Borrowing beats ordering. Nothing to buy, nothing to wait for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Your devices hide sensors you may not be able to reach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Find out today which open up, and which are locked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5" name="Picture 4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REVERSE ENGINEER WHAT YOU ALREADY OWN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700" b="0">
                <a:solidFill>
                  <a:srgbClr val="595959"/>
                </a:solidFill>
                <a:latin typeface="Arial"/>
              </a:rPr>
              <a:t>The trackers in your pocket and on your wrist. What opens up, and what does not.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BLE heart rate strap: readable from a web page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Web Bluetooth, standard GATT. Chrome and Edge only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Most Garmin watches: the same, with no app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Turn on Broadcast Heart Rate and it acts as a strap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Apple Watch: nothing live, whatever you write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HealthKit needs a watchOS app in Swift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Garmin history: Connect IQ, or the API afterwards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Good for analysis. Useless for reacting in real time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5" name="Picture 4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WHAT A PHONE WILL AND WILL NOT GIVE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700" b="0">
                <a:solidFill>
                  <a:srgbClr val="595959"/>
                </a:solidFill>
                <a:latin typeface="Arial"/>
              </a:rPr>
              <a:t>Open sensors.chomskylab.dk on your own phone right now.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Works in a web page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Accelerometer and gyroscope, microphone, camera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Pointer pressure, though a trackpad reports only 0 or 0.5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Does not, whatever the tutorial says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Phone vibration on iOS. WebKit has never shipped it, at any version, and Chrome on iOS is Safari underneath</a:t>
            </a:r>
          </a:p>
          <a:p>
            <a:pPr marL="0" indent="0" algn="l">
              <a:lnSpc>
                <a:spcPct val="128000"/>
              </a:lnSpc>
              <a:spcAft>
                <a:spcPts val="0"/>
              </a:spcAft>
              <a:buNone/>
            </a:pP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So "the phone buzzes" works on no iPhone in this room.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Check the feature, not the tutorial, before it is in a plan.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5" name="Picture 4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  <p:pic>
        <p:nvPicPr>
          <p:cNvPr id="6" name="Picture 5" descr="qr_sens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0" y="2159000"/>
            <a:ext cx="1600200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9000" y="3835400"/>
            <a:ext cx="2362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buNone/>
            </a:pPr>
            <a:r>
              <a:rPr sz="900">
                <a:solidFill>
                  <a:srgbClr val="595959"/>
                </a:solidFill>
                <a:latin typeface="Arial"/>
              </a:rPr>
              <a:t>sensors.chomskylab.dk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TWO RIGS THAT ALREADY EXIST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700" b="0">
                <a:solidFill>
                  <a:srgbClr val="595959"/>
                </a:solidFill>
                <a:latin typeface="Arial"/>
              </a:rPr>
              <a:t>Built here, by students at roughly your stage.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Moving screen, Arduino Uno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Breathes when idle. Retreats when touched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Easing and idle motion do the work. A dozen lines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Instrumented sock, ESP32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Six force sensors under a foot, batched over Wi-Fi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Calibrate per sensor. Batch your writes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5" name="Picture 4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4400" b="1">
                <a:solidFill>
                  <a:srgbClr val="000000"/>
                </a:solidFill>
                <a:latin typeface="Arial"/>
              </a:rPr>
              <a:t>BUILD ONE SIGNAL</a:t>
            </a:r>
          </a:p>
        </p:txBody>
      </p:sp>
      <p:pic>
        <p:nvPicPr>
          <p:cNvPr id="3" name="Picture 2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4" name="Picture 3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THE BRIEF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700" b="0">
                <a:solidFill>
                  <a:srgbClr val="595959"/>
                </a:solidFill>
                <a:latin typeface="Arial"/>
              </a:rPr>
              <a:t>30 minutes. Not long enough to be precious about it.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One actuator, whichever you built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Three messages: arrived, something wrong, finished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Vary rhythm above all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Piezo: rhythm is all you have. Motor: strength too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Blind test: they name all three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Note which two got confused, and why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5" name="Picture 4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THE CONSTRAINT THAT MATTERS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The recipient cannot look at the device.</a:t>
            </a:r>
          </a:p>
          <a:p>
            <a:pPr marL="0" indent="0" algn="l">
              <a:lnSpc>
                <a:spcPct val="128000"/>
              </a:lnSpc>
              <a:spcAft>
                <a:spcPts val="0"/>
              </a:spcAft>
              <a:buNone/>
            </a:pP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0">
                <a:solidFill>
                  <a:srgbClr val="000000"/>
                </a:solidFill>
                <a:latin typeface="Arial"/>
              </a:rPr>
              <a:t>If it only works while someone watches a screen,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0">
                <a:solidFill>
                  <a:srgbClr val="000000"/>
                </a:solidFill>
                <a:latin typeface="Arial"/>
              </a:rPr>
              <a:t>you built a visual interface with a motor glued to it.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5" name="Picture 4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200" b="1">
                <a:solidFill>
                  <a:srgbClr val="000000"/>
                </a:solidFill>
                <a:latin typeface="Arial"/>
              </a:rPr>
              <a:t>BEFORE YOU CALL IT DONE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28000"/>
              </a:lnSpc>
              <a:spcAft>
                <a:spcPts val="1200"/>
              </a:spcAft>
              <a:buNone/>
            </a:pPr>
            <a:r>
              <a:rPr sz="1700" b="0">
                <a:solidFill>
                  <a:srgbClr val="595959"/>
                </a:solidFill>
                <a:latin typeface="Arial"/>
              </a:rPr>
              <a:t>Hand your device to another group with the screen turned away.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They can tell all three messages apart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It does not fire continuously when held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You know which two got confused, and why</a:t>
            </a:r>
          </a:p>
          <a:p>
            <a:pPr marL="0" indent="0" algn="l">
              <a:lnSpc>
                <a:spcPct val="128000"/>
              </a:lnSpc>
              <a:spcAft>
                <a:spcPts val="0"/>
              </a:spcAft>
              <a:buNone/>
            </a:pP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What you actually leave with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What things feel like, how to drive one, and which to pick</a:t>
            </a:r>
          </a:p>
          <a:p>
            <a:pPr marL="0" indent="0"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• That last one is the expensive mistake this prevents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5" name="Picture 4" descr="se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5400" b="1">
                <a:solidFill>
                  <a:srgbClr val="FFFFFF"/>
                </a:solidFill>
                <a:latin typeface="Arial"/>
              </a:rPr>
              <a:t>GO AND TOUCH THINGS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2000" b="0">
                <a:solidFill>
                  <a:srgbClr val="FFFFFF"/>
                </a:solidFill>
                <a:latin typeface="Arial"/>
              </a:rPr>
              <a:t>Everything is open: code, slides and session plan</a:t>
            </a:r>
          </a:p>
        </p:txBody>
      </p:sp>
      <p:pic>
        <p:nvPicPr>
          <p:cNvPr id="4" name="Picture 3" descr="wordmark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84900"/>
            <a:ext cx="2070100" cy="529560"/>
          </a:xfrm>
          <a:prstGeom prst="rect">
            <a:avLst/>
          </a:prstGeom>
        </p:spPr>
      </p:pic>
      <p:pic>
        <p:nvPicPr>
          <p:cNvPr id="5" name="Picture 4" descr="seal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713915" cy="711200"/>
          </a:xfrm>
          <a:prstGeom prst="rect">
            <a:avLst/>
          </a:prstGeom>
        </p:spPr>
      </p:pic>
      <p:pic>
        <p:nvPicPr>
          <p:cNvPr id="6" name="Picture 5" descr="qr_re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0" y="3810000"/>
            <a:ext cx="1498600" cy="149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90000" y="5384800"/>
            <a:ext cx="2260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buNone/>
            </a:pPr>
            <a:r>
              <a:rPr sz="900">
                <a:solidFill>
                  <a:srgbClr val="C8D2DC"/>
                </a:solidFill>
                <a:latin typeface="Arial"/>
              </a:rPr>
              <a:t>github.com/labtools-au/</a:t>
            </a:r>
            <a:br/>
            <a:r>
              <a:rPr sz="900">
                <a:solidFill>
                  <a:srgbClr val="C8D2DC"/>
                </a:solidFill>
                <a:latin typeface="Arial"/>
              </a:rPr>
              <a:t>multimodal-actuator-workshop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